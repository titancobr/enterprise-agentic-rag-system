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ns2="http://schemas.openxmlformats.org/officeDocument/2006/relationships" xmlns:ns3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b="1" sz="1800">
                <a:solidFill>
                  <a:srgbClr val="003366"/>
                </a:solidFill>
              </a:rPr>
              <a:t>SYSTEM ARCHITECTURE — IP-SAKTI SAHAYAK (SIH 26045)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ns2:embed="rId3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01" name="FrontendContainer"/>
          <p:cNvSpPr/>
          <p:nvPr/>
        </p:nvSpPr>
        <p:spPr>
          <a:xfrm>
            <a:off x="457200" y="1300000"/>
            <a:ext cx="3300000" cy="2400000"/>
          </a:xfrm>
          <a:prstGeom prst="rect"/>
          <a:solidFill>
            <a:srgbClr val="FFFFFF"/>
          </a:solidFill>
          <a:ln w="19050">
            <a:solidFill>
              <a:srgbClr val="059669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100">
                <a:solidFill>
                  <a:srgbClr val="059669"/>
                </a:solidFill>
              </a:rPr>
              <a:t>🖥️ FRONTEND</a:t>
            </a:r>
          </a:p>
          <a:p>
            <a:pPr>
              <a:buChar char="•"/>
            </a:pPr>
            <a:r>
              <a:rPr lang="en-US" dirty="0" b="1" sz="900">
                <a:solidFill>
                  <a:srgbClr val="000000"/>
                </a:solidFill>
              </a:rPr>
              <a:t>Streamlit Chat UI: </a:t>
            </a:r>
            <a:r>
              <a:rPr lang="en-US" dirty="0" sz="800">
                <a:solidFill>
                  <a:srgbClr val="444444"/>
                </a:solidFill>
              </a:rPr>
              <a:t>Interactive query &amp; trust drawer.</a:t>
            </a:r>
          </a:p>
          <a:p>
            <a:pPr>
              <a:buChar char="•"/>
            </a:pPr>
            <a:r>
              <a:rPr lang="en-US" dirty="0" b="1" sz="900">
                <a:solidFill>
                  <a:srgbClr val="000000"/>
                </a:solidFill>
              </a:rPr>
              <a:t>Mobile / Web App: </a:t>
            </a:r>
            <a:r>
              <a:rPr lang="en-US" dirty="0" sz="800">
                <a:solidFill>
                  <a:srgbClr val="444444"/>
                </a:solidFill>
              </a:rPr>
              <a:t>Responsive user portal.</a:t>
            </a:r>
          </a:p>
          <a:p>
            <a:pPr>
              <a:buChar char="•"/>
            </a:pPr>
            <a:r>
              <a:rPr lang="en-US" dirty="0" b="1" sz="900">
                <a:solidFill>
                  <a:srgbClr val="000000"/>
                </a:solidFill>
              </a:rPr>
              <a:t>FastAPI Gateway: </a:t>
            </a:r>
            <a:r>
              <a:rPr lang="en-US" dirty="0" sz="800">
                <a:solidFill>
                  <a:srgbClr val="444444"/>
                </a:solidFill>
              </a:rPr>
              <a:t>Async API endpoint handler.</a:t>
            </a:r>
          </a:p>
        </p:txBody>
      </p:sp>
      <p:sp>
        <p:nvSpPr>
          <p:cNvPr id="2002" name="UsersContainer"/>
          <p:cNvSpPr/>
          <p:nvPr/>
        </p:nvSpPr>
        <p:spPr>
          <a:xfrm>
            <a:off x="457200" y="3900000"/>
            <a:ext cx="3300000" cy="2800000"/>
          </a:xfrm>
          <a:prstGeom prst="rect"/>
          <a:solidFill>
            <a:srgbClr val="FFFFFF"/>
          </a:solidFill>
          <a:ln w="19050">
            <a:solidFill>
              <a:srgbClr val="2563EB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100">
                <a:solidFill>
                  <a:srgbClr val="2563EB"/>
                </a:solidFill>
              </a:rPr>
              <a:t>👥 USER ROLES</a:t>
            </a:r>
          </a:p>
          <a:p>
            <a:pPr>
              <a:buChar char="•"/>
            </a:pPr>
            <a:r>
              <a:rPr lang="en-US" dirty="0" b="1" sz="900">
                <a:solidFill>
                  <a:srgbClr val="000000"/>
                </a:solidFill>
              </a:rPr>
              <a:t>AYUSH Practitioner / Researcher</a:t>
            </a:r>
          </a:p>
          <a:p>
            <a:pPr>
              <a:buChar char="•"/>
            </a:pPr>
            <a:r>
              <a:rPr lang="en-US" dirty="0" b="1" sz="900">
                <a:solidFill>
                  <a:srgbClr val="000000"/>
                </a:solidFill>
              </a:rPr>
              <a:t>AYUSH Startup / MSME Innovator</a:t>
            </a:r>
          </a:p>
          <a:p>
            <a:pPr>
              <a:buChar char="•"/>
            </a:pPr>
            <a:r>
              <a:rPr lang="en-US" dirty="0" b="1" sz="900">
                <a:solidFill>
                  <a:srgbClr val="000000"/>
                </a:solidFill>
              </a:rPr>
              <a:t>Government Regulator / IP Officer</a:t>
            </a:r>
          </a:p>
          <a:p>
            <a:pPr>
              <a:buChar char="•"/>
            </a:pPr>
            <a:r>
              <a:rPr lang="en-US" dirty="0" b="1" sz="900">
                <a:solidFill>
                  <a:srgbClr val="000000"/>
                </a:solidFill>
              </a:rPr>
              <a:t>Herbal Cultivator / Exporter</a:t>
            </a:r>
          </a:p>
        </p:txBody>
      </p:sp>
      <p:sp>
        <p:nvSpPr>
          <p:cNvPr id="2003" name="BackendContainer"/>
          <p:cNvSpPr/>
          <p:nvPr/>
        </p:nvSpPr>
        <p:spPr>
          <a:xfrm>
            <a:off x="4000000" y="1300000"/>
            <a:ext cx="3300000" cy="5400000"/>
          </a:xfrm>
          <a:prstGeom prst="rect"/>
          <a:solidFill>
            <a:srgbClr val="FFFFFF"/>
          </a:solidFill>
          <a:ln w="19050">
            <a:solidFill>
              <a:srgbClr val="D9770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100">
                <a:solidFill>
                  <a:srgbClr val="D97706"/>
                </a:solidFill>
              </a:rPr>
              <a:t>⚙️ BACKEND SERVICES</a:t>
            </a:r>
          </a:p>
          <a:p>
            <a:pPr>
              <a:buChar char="•"/>
            </a:pPr>
            <a:r>
              <a:rPr lang="en-US" dirty="0" b="1" sz="900">
                <a:solidFill>
                  <a:srgbClr val="B22222"/>
                </a:solidFill>
              </a:rPr>
              <a:t>NeMo Input Guardrail: </a:t>
            </a:r>
            <a:r>
              <a:rPr lang="en-US" dirty="0" sz="800">
                <a:solidFill>
                  <a:srgbClr val="333333"/>
                </a:solidFill>
              </a:rPr>
              <a:t>Filters prompt injection &amp; off-topic queries (0 token waste).</a:t>
            </a:r>
          </a:p>
          <a:p>
            <a:pPr>
              <a:buChar char="•"/>
            </a:pPr>
            <a:r>
              <a:rPr lang="en-US" dirty="0" b="1" sz="900">
                <a:solidFill>
                  <a:srgbClr val="D97706"/>
                </a:solidFill>
              </a:rPr>
              <a:t>Jurisdiction Router: </a:t>
            </a:r>
            <a:r>
              <a:rPr lang="en-US" dirty="0" sz="800">
                <a:solidFill>
                  <a:srgbClr val="333333"/>
                </a:solidFill>
              </a:rPr>
              <a:t>Isolates Indian laws from international frameworks (WIPO/Nagoya).</a:t>
            </a:r>
          </a:p>
          <a:p>
            <a:pPr>
              <a:buChar char="•"/>
            </a:pPr>
            <a:r>
              <a:rPr lang="en-US" dirty="0" b="1" sz="900">
                <a:solidFill>
                  <a:srgbClr val="D97706"/>
                </a:solidFill>
              </a:rPr>
              <a:t>Formulation Classifier: </a:t>
            </a:r>
            <a:r>
              <a:rPr lang="en-US" dirty="0" sz="800">
                <a:solidFill>
                  <a:srgbClr val="333333"/>
                </a:solidFill>
              </a:rPr>
              <a:t>Maps product to Classical vs Proprietary vs Phytopharma.</a:t>
            </a:r>
          </a:p>
          <a:p>
            <a:pPr>
              <a:buChar char="•"/>
            </a:pPr>
            <a:r>
              <a:rPr lang="en-US" dirty="0" b="1" sz="900">
                <a:solidFill>
                  <a:srgbClr val="D97706"/>
                </a:solidFill>
              </a:rPr>
              <a:t>Portkey Gateway &amp; RAFT Model: </a:t>
            </a:r>
            <a:r>
              <a:rPr lang="en-US" dirty="0" sz="800">
                <a:solidFill>
                  <a:srgbClr val="333333"/>
                </a:solidFill>
              </a:rPr>
              <a:t>Unified routing (Llama 3.3 70B) + Fine-tuned domain LLM.</a:t>
            </a:r>
          </a:p>
          <a:p>
            <a:pPr>
              <a:buChar char="•"/>
            </a:pPr>
            <a:r>
              <a:rPr lang="en-US" dirty="0" b="1" sz="900">
                <a:solidFill>
                  <a:srgbClr val="D97706"/>
                </a:solidFill>
              </a:rPr>
              <a:t>Citation &amp; Safety Verifier: </a:t>
            </a:r>
            <a:r>
              <a:rPr lang="en-US" dirty="0" sz="800">
                <a:solidFill>
                  <a:srgbClr val="333333"/>
                </a:solidFill>
              </a:rPr>
              <a:t>Verifies statutory clauses before returning response.</a:t>
            </a:r>
          </a:p>
        </p:txBody>
      </p:sp>
      <p:sp>
        <p:nvSpPr>
          <p:cNvPr id="2004" name="DataLayerContainer"/>
          <p:cNvSpPr/>
          <p:nvPr/>
        </p:nvSpPr>
        <p:spPr>
          <a:xfrm>
            <a:off x="7500000" y="1300000"/>
            <a:ext cx="2200000" cy="5400000"/>
          </a:xfrm>
          <a:prstGeom prst="rect"/>
          <a:solidFill>
            <a:srgbClr val="FFFFFF"/>
          </a:solidFill>
          <a:ln w="19050">
            <a:solidFill>
              <a:srgbClr val="CA8A04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100">
                <a:solidFill>
                  <a:srgbClr val="CA8A04"/>
                </a:solidFill>
              </a:rPr>
              <a:t>🗄️ DATA LAYER</a:t>
            </a:r>
          </a:p>
          <a:p>
            <a:pPr>
              <a:buChar char="•"/>
            </a:pPr>
            <a:r>
              <a:rPr lang="en-US" dirty="0" b="1" sz="900">
                <a:solidFill>
                  <a:srgbClr val="000000"/>
                </a:solidFill>
              </a:rPr>
              <a:t>Qdrant Cloud DB: </a:t>
            </a:r>
            <a:r>
              <a:rPr lang="en-US" dirty="0" sz="800">
                <a:solidFill>
                  <a:srgbClr val="333333"/>
                </a:solidFill>
              </a:rPr>
              <a:t>3072-dim Gemini dense vector embeddings.</a:t>
            </a:r>
          </a:p>
          <a:p>
            <a:pPr>
              <a:buChar char="•"/>
            </a:pPr>
            <a:r>
              <a:rPr lang="en-US" dirty="0" b="1" sz="900">
                <a:solidFill>
                  <a:srgbClr val="000000"/>
                </a:solidFill>
              </a:rPr>
              <a:t>Rank-BM25 Index: </a:t>
            </a:r>
            <a:r>
              <a:rPr lang="en-US" dirty="0" sz="800">
                <a:solidFill>
                  <a:srgbClr val="333333"/>
                </a:solidFill>
              </a:rPr>
              <a:t>Sparse keyword search for statutory section numbers.</a:t>
            </a:r>
          </a:p>
          <a:p>
            <a:pPr>
              <a:buChar char="•"/>
            </a:pPr>
            <a:r>
              <a:rPr lang="en-US" dirty="0" b="1" sz="900">
                <a:solidFill>
                  <a:srgbClr val="000000"/>
                </a:solidFill>
              </a:rPr>
              <a:t>FlashRank Reranker: </a:t>
            </a:r>
            <a:r>
              <a:rPr lang="en-US" dirty="0" sz="800">
                <a:solidFill>
                  <a:srgbClr val="333333"/>
                </a:solidFill>
              </a:rPr>
              <a:t>Local neural cross-encoder for sub-2.1s recall.</a:t>
            </a:r>
          </a:p>
          <a:p>
            <a:pPr>
              <a:buChar char="•"/>
            </a:pPr>
            <a:r>
              <a:rPr lang="en-US" dirty="0" b="1" sz="900">
                <a:solidFill>
                  <a:srgbClr val="000000"/>
                </a:solidFill>
              </a:rPr>
              <a:t>MemorySaver: </a:t>
            </a:r>
            <a:r>
              <a:rPr lang="en-US" dirty="0" sz="800">
                <a:solidFill>
                  <a:srgbClr val="333333"/>
                </a:solidFill>
              </a:rPr>
              <a:t>Stateful conversation history.</a:t>
            </a:r>
          </a:p>
        </p:txBody>
      </p:sp>
      <p:sp>
        <p:nvSpPr>
          <p:cNvPr id="2005" name="OutputsContainer"/>
          <p:cNvSpPr/>
          <p:nvPr/>
        </p:nvSpPr>
        <p:spPr>
          <a:xfrm>
            <a:off x="9900000" y="1300000"/>
            <a:ext cx="2200000" cy="1600000"/>
          </a:xfrm>
          <a:prstGeom prst="rect"/>
          <a:solidFill>
            <a:srgbClr val="FFFFFF"/>
          </a:solidFill>
          <a:ln w="19050">
            <a:solidFill>
              <a:srgbClr val="475569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000">
                <a:solidFill>
                  <a:srgbClr val="475569"/>
                </a:solidFill>
              </a:rPr>
              <a:t>📊 OUTPUTS</a:t>
            </a:r>
          </a:p>
          <a:p>
            <a:pPr>
              <a:buChar char="•"/>
            </a:pPr>
            <a:r>
              <a:rPr lang="en-US" dirty="0" b="1" sz="800">
                <a:solidFill>
                  <a:srgbClr val="000000"/>
                </a:solidFill>
              </a:rPr>
              <a:t>Source-Cited Answers</a:t>
            </a:r>
          </a:p>
          <a:p>
            <a:pPr>
              <a:buChar char="•"/>
            </a:pPr>
            <a:r>
              <a:rPr lang="en-US" dirty="0" b="1" sz="800">
                <a:solidFill>
                  <a:srgbClr val="000000"/>
                </a:solidFill>
              </a:rPr>
              <a:t>Auditable Trust Panel</a:t>
            </a:r>
          </a:p>
          <a:p>
            <a:pPr>
              <a:buChar char="•"/>
            </a:pPr>
            <a:r>
              <a:rPr lang="en-US" dirty="0" b="1" sz="800">
                <a:solidFill>
                  <a:srgbClr val="000000"/>
                </a:solidFill>
              </a:rPr>
              <a:t>ABS &amp; Compliance Roadmap</a:t>
            </a:r>
          </a:p>
        </p:txBody>
      </p:sp>
      <p:sp>
        <p:nvSpPr>
          <p:cNvPr id="2006" name="IntegrationsContainer"/>
          <p:cNvSpPr/>
          <p:nvPr/>
        </p:nvSpPr>
        <p:spPr>
          <a:xfrm>
            <a:off x="9900000" y="3050000"/>
            <a:ext cx="2200000" cy="1800000"/>
          </a:xfrm>
          <a:prstGeom prst="rect"/>
          <a:solidFill>
            <a:srgbClr val="FFFFFF"/>
          </a:solidFill>
          <a:ln w="19050">
            <a:solidFill>
              <a:srgbClr val="0D9488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000">
                <a:solidFill>
                  <a:srgbClr val="0D9488"/>
                </a:solidFill>
              </a:rPr>
              <a:t>🌐 INTEGRATIONS</a:t>
            </a:r>
          </a:p>
          <a:p>
            <a:pPr>
              <a:buChar char="•"/>
            </a:pPr>
            <a:r>
              <a:rPr lang="en-US" dirty="0" b="1" sz="800">
                <a:solidFill>
                  <a:srgbClr val="000000"/>
                </a:solidFill>
              </a:rPr>
              <a:t>IP India (InPASS)</a:t>
            </a:r>
          </a:p>
          <a:p>
            <a:pPr>
              <a:buChar char="•"/>
            </a:pPr>
            <a:r>
              <a:rPr lang="en-US" dirty="0" b="1" sz="800">
                <a:solidFill>
                  <a:srgbClr val="000000"/>
                </a:solidFill>
              </a:rPr>
              <a:t>NBA ABS Portal</a:t>
            </a:r>
          </a:p>
          <a:p>
            <a:pPr>
              <a:buChar char="•"/>
            </a:pPr>
            <a:r>
              <a:rPr lang="en-US" dirty="0" b="1" sz="800">
                <a:solidFill>
                  <a:srgbClr val="000000"/>
                </a:solidFill>
              </a:rPr>
              <a:t>WIPO Patentscope</a:t>
            </a:r>
          </a:p>
          <a:p>
            <a:pPr>
              <a:buChar char="•"/>
            </a:pPr>
            <a:r>
              <a:rPr lang="en-US" dirty="0" b="1" sz="800">
                <a:solidFill>
                  <a:srgbClr val="000000"/>
                </a:solidFill>
              </a:rPr>
              <a:t>FSSAI Ayurveda-Aahar</a:t>
            </a:r>
          </a:p>
          <a:p>
            <a:pPr>
              <a:buChar char="•"/>
            </a:pPr>
            <a:r>
              <a:rPr lang="en-US" dirty="0" b="1" sz="800">
                <a:solidFill>
                  <a:srgbClr val="000000"/>
                </a:solidFill>
              </a:rPr>
              <a:t>Bhashini AI4Bharat</a:t>
            </a:r>
          </a:p>
        </p:txBody>
      </p:sp>
      <p:sp>
        <p:nvSpPr>
          <p:cNvPr id="2007" name="EvalsContainer"/>
          <p:cNvSpPr/>
          <p:nvPr/>
        </p:nvSpPr>
        <p:spPr>
          <a:xfrm>
            <a:off x="9900000" y="4950000"/>
            <a:ext cx="2200000" cy="1750000"/>
          </a:xfrm>
          <a:prstGeom prst="rect"/>
          <a:solidFill>
            <a:srgbClr val="FFFFFF"/>
          </a:solidFill>
          <a:ln w="19050">
            <a:solidFill>
              <a:srgbClr val="DB2777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000">
                <a:solidFill>
                  <a:srgbClr val="DB2777"/>
                </a:solidFill>
              </a:rPr>
              <a:t>🧪 TRUST &amp; EVALS</a:t>
            </a:r>
          </a:p>
          <a:p>
            <a:pPr>
              <a:buChar char="•"/>
            </a:pPr>
            <a:r>
              <a:rPr lang="en-US" dirty="0" b="1" sz="800">
                <a:solidFill>
                  <a:srgbClr val="000000"/>
                </a:solidFill>
              </a:rPr>
              <a:t>RAGAS Evaluator</a:t>
            </a:r>
          </a:p>
          <a:p>
            <a:pPr>
              <a:buChar char="•"/>
            </a:pPr>
            <a:r>
              <a:rPr lang="en-US" dirty="0" b="1" sz="800">
                <a:solidFill>
                  <a:srgbClr val="000000"/>
                </a:solidFill>
              </a:rPr>
              <a:t>FActScore Verifier</a:t>
            </a:r>
          </a:p>
          <a:p>
            <a:pPr>
              <a:buChar char="•"/>
            </a:pPr>
            <a:r>
              <a:rPr lang="en-US" dirty="0" b="1" sz="800">
                <a:solidFill>
                  <a:srgbClr val="000000"/>
                </a:solidFill>
              </a:rPr>
              <a:t>Logfire &amp; LangSmith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