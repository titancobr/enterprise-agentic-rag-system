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ns3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lang="en-US" dirty="0" b="1" sz="1600">
                <a:solidFill>
                  <a:srgbClr val="003366"/>
                </a:solidFill>
              </a:rPr>
              <a:t>IP-SAKTI SAHAYAK — System Architecture &amp; Technical Capabilities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ns2:embed="rId3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00" name="CenterLaptopUI"/>
          <p:cNvSpPr/>
          <p:nvPr/>
        </p:nvSpPr>
        <p:spPr>
          <a:xfrm>
            <a:off x="4400000" y="1300000"/>
            <a:ext cx="3300000" cy="38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200">
                <a:solidFill>
                  <a:srgbClr val="003366"/>
                </a:solidFill>
              </a:rPr>
              <a:t>💻 IP-SAKTI Sahayak UI</a:t>
            </a:r>
          </a:p>
          <a:p>
            <a:pPr>
              <a:buNone/>
            </a:pPr>
            <a:r>
              <a:rPr lang="en-US" dirty="0" b="1" sz="900">
                <a:solidFill>
                  <a:srgbClr val="2E7D32"/>
                </a:solidFill>
              </a:rPr>
              <a:t>User: </a:t>
            </a:r>
            <a:r>
              <a:rPr lang="en-US" dirty="0" sz="900">
                <a:solidFill>
                  <a:srgbClr val="000000"/>
                </a:solidFill>
              </a:rPr>
              <a:t>"I have a new herbal formulation. Can I patent it?"</a:t>
            </a:r>
          </a:p>
          <a:p>
            <a:pPr>
              <a:buNone/>
            </a:pPr>
            <a:r>
              <a:rPr lang="en-US" dirty="0" b="1" sz="900">
                <a:solidFill>
                  <a:srgbClr val="003366"/>
                </a:solidFill>
              </a:rPr>
              <a:t>AI Assistant: </a:t>
            </a:r>
            <a:r>
              <a:rPr lang="en-US" dirty="0" sz="900">
                <a:solidFill>
                  <a:srgbClr val="000000"/>
                </a:solidFill>
              </a:rPr>
              <a:t>"Let me help you with that. I will ask a few questions to understand your product better."</a:t>
            </a:r>
          </a:p>
          <a:p>
            <a:pPr>
              <a:buNone/>
            </a:pPr>
            <a:r>
              <a:rPr lang="en-US" dirty="0" sz="800">
                <a:solidFill>
                  <a:srgbClr val="CCCCCC"/>
                </a:solidFill>
              </a:rPr>
              <a:t>-------------------------------</a:t>
            </a:r>
          </a:p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Tech Stack: </a:t>
            </a:r>
            <a:r>
              <a:rPr lang="en-US" dirty="0" sz="800">
                <a:solidFill>
                  <a:srgbClr val="555555"/>
                </a:solidFill>
              </a:rPr>
              <a:t>Streamlit UI + LangGraph State Machine</a:t>
            </a:r>
          </a:p>
        </p:txBody>
      </p:sp>
      <p:sp>
        <p:nvSpPr>
          <p:cNvPr id="1001" name="SourceBacked"/>
          <p:cNvSpPr/>
          <p:nvPr/>
        </p:nvSpPr>
        <p:spPr>
          <a:xfrm>
            <a:off x="457200" y="1300000"/>
            <a:ext cx="3700000" cy="115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003366"/>
                </a:solidFill>
              </a:rPr>
              <a:t>📄 SOURCE-BACKED ANSWERS</a:t>
            </a:r>
          </a:p>
          <a:p>
            <a:pPr>
              <a:buNone/>
            </a:pPr>
            <a:r>
              <a:rPr lang="en-US" dirty="0" sz="800">
                <a:solidFill>
                  <a:srgbClr val="333333"/>
                </a:solidFill>
              </a:rPr>
              <a:t>All answers backed by verified laws &amp; rules.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3366"/>
                </a:solidFill>
              </a:rPr>
              <a:t>Tech: </a:t>
            </a:r>
            <a:r>
              <a:rPr lang="en-US" dirty="0" sz="800">
                <a:solidFill>
                  <a:srgbClr val="000000"/>
                </a:solidFill>
              </a:rPr>
              <a:t>Attributed RAG + Verifiable Citation Verification</a:t>
            </a:r>
          </a:p>
        </p:txBody>
      </p:sp>
      <p:sp>
        <p:nvSpPr>
          <p:cNvPr id="1002" name="Jurisdiction"/>
          <p:cNvSpPr/>
          <p:nvPr/>
        </p:nvSpPr>
        <p:spPr>
          <a:xfrm>
            <a:off x="457200" y="2600000"/>
            <a:ext cx="3700000" cy="115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003366"/>
                </a:solidFill>
              </a:rPr>
              <a:t>🌐 INDIA &amp; INT'L ROUTER</a:t>
            </a:r>
          </a:p>
          <a:p>
            <a:pPr>
              <a:buNone/>
            </a:pPr>
            <a:r>
              <a:rPr lang="en-US" dirty="0" sz="800">
                <a:solidFill>
                  <a:srgbClr val="333333"/>
                </a:solidFill>
              </a:rPr>
              <a:t>Separates domestic law from WIPO, Nagoya &amp; TRIPS.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3366"/>
                </a:solidFill>
              </a:rPr>
              <a:t>Tech: </a:t>
            </a:r>
            <a:r>
              <a:rPr lang="en-US" dirty="0" sz="800">
                <a:solidFill>
                  <a:srgbClr val="000000"/>
                </a:solidFill>
              </a:rPr>
              <a:t>LangGraph Jurisdiction &amp; Regulatory Router</a:t>
            </a:r>
          </a:p>
        </p:txBody>
      </p:sp>
      <p:sp>
        <p:nvSpPr>
          <p:cNvPr id="1003" name="FormulationClass"/>
          <p:cNvSpPr/>
          <p:nvPr/>
        </p:nvSpPr>
        <p:spPr>
          <a:xfrm>
            <a:off x="457200" y="3900000"/>
            <a:ext cx="3700000" cy="12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003366"/>
                </a:solidFill>
              </a:rPr>
              <a:t>🧪 FORMULATION CLASSIFIER</a:t>
            </a:r>
          </a:p>
          <a:p>
            <a:pPr>
              <a:buNone/>
            </a:pPr>
            <a:r>
              <a:rPr lang="en-US" dirty="0" b="1" sz="800">
                <a:solidFill>
                  <a:srgbClr val="2E7D32"/>
                </a:solidFill>
              </a:rPr>
              <a:t>Classical | Proprietary | Phytopharma | Food | Cosmetic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3366"/>
                </a:solidFill>
              </a:rPr>
              <a:t>Tech: </a:t>
            </a:r>
            <a:r>
              <a:rPr lang="en-US" dirty="0" sz="800">
                <a:solidFill>
                  <a:srgbClr val="000000"/>
                </a:solidFill>
              </a:rPr>
              <a:t>Interactive Regulatory Pathway Classifier Wizard</a:t>
            </a:r>
          </a:p>
        </p:txBody>
      </p:sp>
      <p:sp>
        <p:nvSpPr>
          <p:cNvPr id="1004" name="Conversational"/>
          <p:cNvSpPr/>
          <p:nvPr/>
        </p:nvSpPr>
        <p:spPr>
          <a:xfrm>
            <a:off x="7900000" y="1300000"/>
            <a:ext cx="3700000" cy="115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003366"/>
                </a:solidFill>
              </a:rPr>
              <a:t>💬 CONVERSATIONAL ASSISTANT</a:t>
            </a:r>
          </a:p>
          <a:p>
            <a:pPr>
              <a:buNone/>
            </a:pPr>
            <a:r>
              <a:rPr lang="en-US" dirty="0" sz="800">
                <a:solidFill>
                  <a:srgbClr val="333333"/>
                </a:solidFill>
              </a:rPr>
              <a:t>Easy chat interface with step-by-step guidance.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3366"/>
                </a:solidFill>
              </a:rPr>
              <a:t>Tech: </a:t>
            </a:r>
            <a:r>
              <a:rPr lang="en-US" dirty="0" sz="800">
                <a:solidFill>
                  <a:srgbClr val="000000"/>
                </a:solidFill>
              </a:rPr>
              <a:t>Bhashini &amp; AI4Bharat IndicTrans2 (22 Indic Languages)</a:t>
            </a:r>
          </a:p>
        </p:txBody>
      </p:sp>
      <p:sp>
        <p:nvSpPr>
          <p:cNvPr id="1005" name="SmartSearch"/>
          <p:cNvSpPr/>
          <p:nvPr/>
        </p:nvSpPr>
        <p:spPr>
          <a:xfrm>
            <a:off x="7900000" y="2600000"/>
            <a:ext cx="3700000" cy="115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003366"/>
                </a:solidFill>
              </a:rPr>
              <a:t>🔍 SMART SEARCH &amp; RETRIEVAL</a:t>
            </a:r>
          </a:p>
          <a:p>
            <a:pPr>
              <a:buNone/>
            </a:pPr>
            <a:r>
              <a:rPr lang="en-US" dirty="0" sz="800">
                <a:solidFill>
                  <a:srgbClr val="333333"/>
                </a:solidFill>
              </a:rPr>
              <a:t>Instant context-aware statutory &amp; case law retrieval.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3366"/>
                </a:solidFill>
              </a:rPr>
              <a:t>Tech: </a:t>
            </a:r>
            <a:r>
              <a:rPr lang="en-US" dirty="0" sz="800">
                <a:solidFill>
                  <a:srgbClr val="000000"/>
                </a:solidFill>
              </a:rPr>
              <a:t>BM25 + Qdrant Vector DB + FlashRank Local Reranker</a:t>
            </a:r>
          </a:p>
        </p:txBody>
      </p:sp>
      <p:sp>
        <p:nvSpPr>
          <p:cNvPr id="1006" name="SafetyChecks"/>
          <p:cNvSpPr/>
          <p:nvPr/>
        </p:nvSpPr>
        <p:spPr>
          <a:xfrm>
            <a:off x="7900000" y="3900000"/>
            <a:ext cx="3700000" cy="12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003366"/>
                </a:solidFill>
              </a:rPr>
              <a:t>🛡️ CITATION &amp; SAFETY CHECKS</a:t>
            </a:r>
          </a:p>
          <a:p>
            <a:pPr>
              <a:buNone/>
            </a:pPr>
            <a:r>
              <a:rPr lang="en-US" dirty="0" sz="800">
                <a:solidFill>
                  <a:srgbClr val="333333"/>
                </a:solidFill>
              </a:rPr>
              <a:t>Content safety guardrails &amp; verified source links.</a:t>
            </a:r>
          </a:p>
          <a:p>
            <a:pPr>
              <a:buChar char="•"/>
            </a:pPr>
            <a:r>
              <a:rPr lang="en-US" dirty="0" b="1" sz="800">
                <a:solidFill>
                  <a:srgbClr val="003366"/>
                </a:solidFill>
              </a:rPr>
              <a:t>Tech: </a:t>
            </a:r>
            <a:r>
              <a:rPr lang="en-US" dirty="0" sz="800">
                <a:solidFill>
                  <a:srgbClr val="000000"/>
                </a:solidFill>
              </a:rPr>
              <a:t>NVIDIA NeMo Guardrails &amp; Output Verifier</a:t>
            </a:r>
          </a:p>
        </p:txBody>
      </p:sp>
      <p:sp>
        <p:nvSpPr>
          <p:cNvPr id="1007" name="CapBanner"/>
          <p:cNvSpPr/>
          <p:nvPr/>
        </p:nvSpPr>
        <p:spPr>
          <a:xfrm>
            <a:off x="457200" y="5250000"/>
            <a:ext cx="11142800" cy="350000"/>
          </a:xfrm>
          <a:prstGeom prst="rect"/>
          <a:solidFill>
            <a:srgbClr val="003366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1000">
                <a:solidFill>
                  <a:srgbClr val="FFFFFF"/>
                </a:solidFill>
              </a:rPr>
              <a:t>SYSTEM CAPABILITIES &amp; ENGINEERING ARCHITECTURE</a:t>
            </a:r>
          </a:p>
        </p:txBody>
      </p:sp>
      <p:sp>
        <p:nvSpPr>
          <p:cNvPr id="1008" name="RobustCard"/>
          <p:cNvSpPr/>
          <p:nvPr/>
        </p:nvSpPr>
        <p:spPr>
          <a:xfrm>
            <a:off x="457200" y="5650000"/>
            <a:ext cx="1320000" cy="9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ROBUST</a:t>
            </a:r>
          </a:p>
          <a:p>
            <a:pPr>
              <a:buNone/>
            </a:pPr>
            <a:r>
              <a:rPr lang="en-US" dirty="0" sz="700">
                <a:solidFill>
                  <a:srgbClr val="333333"/>
                </a:solidFill>
              </a:rPr>
              <a:t>LangGraph Cyclic Agentic State Machine</a:t>
            </a:r>
          </a:p>
        </p:txBody>
      </p:sp>
      <p:sp>
        <p:nvSpPr>
          <p:cNvPr id="1009" name="FaultTolerantCard"/>
          <p:cNvSpPr/>
          <p:nvPr/>
        </p:nvSpPr>
        <p:spPr>
          <a:xfrm>
            <a:off x="1857200" y="5650000"/>
            <a:ext cx="1320000" cy="9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FAULT TOLERANT</a:t>
            </a:r>
          </a:p>
          <a:p>
            <a:pPr>
              <a:buNone/>
            </a:pPr>
            <a:r>
              <a:rPr lang="en-US" dirty="0" sz="700">
                <a:solidFill>
                  <a:srgbClr val="333333"/>
                </a:solidFill>
              </a:rPr>
              <a:t>Portkey Gateway (Groq Primary + Fallback)</a:t>
            </a:r>
          </a:p>
        </p:txBody>
      </p:sp>
      <p:sp>
        <p:nvSpPr>
          <p:cNvPr id="1010" name="SecureCard"/>
          <p:cNvSpPr/>
          <p:nvPr/>
        </p:nvSpPr>
        <p:spPr>
          <a:xfrm>
            <a:off x="3257200" y="5650000"/>
            <a:ext cx="1320000" cy="900000"/>
          </a:xfrm>
          <a:prstGeom prst="rect"/>
          <a:solidFill>
            <a:srgbClr val="FFFFFF"/>
          </a:solidFill>
          <a:ln w="12700">
            <a:solidFill>
              <a:srgbClr val="B22222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SECURE</a:t>
            </a:r>
          </a:p>
          <a:p>
            <a:pPr>
              <a:buNone/>
            </a:pPr>
            <a:r>
              <a:rPr lang="en-US" dirty="0" b="1" sz="700">
                <a:solidFill>
                  <a:srgbClr val="B22222"/>
                </a:solidFill>
              </a:rPr>
              <a:t>NeMo Input Rails (0 Token Waste on Off-Topic)</a:t>
            </a:r>
          </a:p>
        </p:txBody>
      </p:sp>
      <p:sp>
        <p:nvSpPr>
          <p:cNvPr id="1011" name="ScalableCard"/>
          <p:cNvSpPr/>
          <p:nvPr/>
        </p:nvSpPr>
        <p:spPr>
          <a:xfrm>
            <a:off x="4657200" y="5650000"/>
            <a:ext cx="1320000" cy="9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SCALABLE</a:t>
            </a:r>
          </a:p>
          <a:p>
            <a:pPr>
              <a:buNone/>
            </a:pPr>
            <a:r>
              <a:rPr lang="en-US" dirty="0" sz="700">
                <a:solidFill>
                  <a:srgbClr val="333333"/>
                </a:solidFill>
              </a:rPr>
              <a:t>FastAPI Async + Qdrant Cloud Vector Index</a:t>
            </a:r>
          </a:p>
        </p:txBody>
      </p:sp>
      <p:sp>
        <p:nvSpPr>
          <p:cNvPr id="1012" name="EasyUseCard"/>
          <p:cNvSpPr/>
          <p:nvPr/>
        </p:nvSpPr>
        <p:spPr>
          <a:xfrm>
            <a:off x="6057200" y="5650000"/>
            <a:ext cx="1320000" cy="9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EASY TO USE</a:t>
            </a:r>
          </a:p>
          <a:p>
            <a:pPr>
              <a:buNone/>
            </a:pPr>
            <a:r>
              <a:rPr lang="en-US" dirty="0" sz="700">
                <a:solidFill>
                  <a:srgbClr val="333333"/>
                </a:solidFill>
              </a:rPr>
              <a:t>Streamlit Chat UI + Source Inspector</a:t>
            </a:r>
          </a:p>
        </p:txBody>
      </p:sp>
      <p:sp>
        <p:nvSpPr>
          <p:cNvPr id="1013" name="ReliableCard"/>
          <p:cNvSpPr/>
          <p:nvPr/>
        </p:nvSpPr>
        <p:spPr>
          <a:xfrm>
            <a:off x="7457200" y="5650000"/>
            <a:ext cx="1320000" cy="9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RELIABLE</a:t>
            </a:r>
          </a:p>
          <a:p>
            <a:pPr>
              <a:buNone/>
            </a:pPr>
            <a:r>
              <a:rPr lang="en-US" dirty="0" sz="700">
                <a:solidFill>
                  <a:srgbClr val="333333"/>
                </a:solidFill>
              </a:rPr>
              <a:t>RAGAS Evaluated (95%+ Faithfulness &amp; Recall)</a:t>
            </a:r>
          </a:p>
        </p:txBody>
      </p:sp>
      <p:sp>
        <p:nvSpPr>
          <p:cNvPr id="1014" name="FastCard"/>
          <p:cNvSpPr/>
          <p:nvPr/>
        </p:nvSpPr>
        <p:spPr>
          <a:xfrm>
            <a:off x="8857200" y="5650000"/>
            <a:ext cx="1320000" cy="9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FAST &amp; EFFICIENT</a:t>
            </a:r>
          </a:p>
          <a:p>
            <a:pPr>
              <a:buNone/>
            </a:pPr>
            <a:r>
              <a:rPr lang="en-US" dirty="0" sz="700">
                <a:solidFill>
                  <a:srgbClr val="333333"/>
                </a:solidFill>
              </a:rPr>
              <a:t>FlashRank Reranker (&lt;2.1s Latency)</a:t>
            </a:r>
          </a:p>
        </p:txBody>
      </p:sp>
      <p:sp>
        <p:nvSpPr>
          <p:cNvPr id="1015" name="UpToDateCard"/>
          <p:cNvSpPr/>
          <p:nvPr/>
        </p:nvSpPr>
        <p:spPr>
          <a:xfrm>
            <a:off x="10257200" y="5650000"/>
            <a:ext cx="1342800" cy="90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UP-TO-DATE</a:t>
            </a:r>
          </a:p>
          <a:p>
            <a:pPr>
              <a:buNone/>
            </a:pPr>
            <a:r>
              <a:rPr lang="en-US" dirty="0" sz="700">
                <a:solidFill>
                  <a:srgbClr val="333333"/>
                </a:solidFill>
              </a:rPr>
              <a:t>Version-Tracked Ingestion Pipeline</a:t>
            </a:r>
          </a:p>
        </p:txBody>
      </p:sp>
      <p:sp>
        <p:nvSpPr>
          <p:cNvPr id="1016" name="TrustBanner"/>
          <p:cNvSpPr/>
          <p:nvPr/>
        </p:nvSpPr>
        <p:spPr>
          <a:xfrm>
            <a:off x="457200" y="6600000"/>
            <a:ext cx="11142800" cy="250000"/>
          </a:xfrm>
          <a:prstGeom prst="rect"/>
          <a:solidFill>
            <a:srgbClr val="FFFFFF"/>
          </a:solidFill>
          <a:ln w="12700">
            <a:solidFill>
              <a:srgbClr val="003366"/>
            </a:solidFill>
          </a:ln>
        </p:spPr>
        <p:txBody>
          <a:bodyPr wrap="square" lIns="91440" tIns="91440" rIns="91440" bIns="91440"/>
          <a:lstStyle/>
          <a:p>
            <a:pPr>
              <a:buNone/>
            </a:pPr>
            <a:r>
              <a:rPr lang="en-US" dirty="0" b="1" sz="800">
                <a:solidFill>
                  <a:srgbClr val="003366"/>
                </a:solidFill>
              </a:rPr>
              <a:t>🛡️ Built on Trust  |  🌿 Rooted in Ayurveda  |  ⚖️ Backed by Laws  |  👥 Empowering Innovators  |  🌐 Protecting Knowledge. Enabling Innovation.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