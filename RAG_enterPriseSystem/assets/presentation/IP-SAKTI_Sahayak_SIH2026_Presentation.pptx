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  <p:sldId id="297" r:id="rId8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35768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ns2="http://schemas.microsoft.com/office/drawing/2014/main" xmlns:ns3="http://schemas.microsoft.com/office/drawing/2017/decorative" xmlns:ns4="http://schemas.microsoft.com/office/powerpoint/2015/main" xmlns:ns5="http://schemas.openxmlformats.org/officeDocument/2006/relationships" xmlns:ns6="http://schemas.microsoft.com/office/drawing/2010/main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ns2:creationId id="{3E443FD7-A66B-4AA0-872D-B088B9BC5F17}"/>
              </a:ext>
              <a:ext uri="{C183D7F6-B498-43B3-948B-1728B52AA6E4}">
                <ns3:decorative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ns4:designElem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ns2:creationId id="{C04BE0EF-3561-49B4-9A29-F283168A91C7}"/>
              </a:ext>
              <a:ext uri="{C183D7F6-B498-43B3-948B-1728B52AA6E4}">
                <ns3:decorative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ns4:designElem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ns2:creationId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ns5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dirty="0" b="1" sz="1800">
                <a:solidFill>
                  <a:srgbClr val="003366"/>
                </a:solidFill>
              </a:rPr>
              <a:t>IP-SAKTI Sahayak: Auditable Multilingual Regulatory &amp; IP Intelligence Platform for Ayurveda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703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Theme-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PS Category- Software/Hardware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ID-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Name (Registered on portal)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ns5:embed="rId3">
            <a:extLst>
              <a:ext uri="{28A0092B-C50C-407E-A947-70E740481C1C}">
                <ns6:useLocalDpi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01" name="ProblemBox"/>
          <p:cNvSpPr/>
          <p:nvPr/>
        </p:nvSpPr>
        <p:spPr>
          <a:xfrm>
            <a:off x="457200" y="1800000"/>
            <a:ext cx="5800000" cy="4800000"/>
          </a:xfrm>
          <a:prstGeom prst="rect"/>
          <a:solidFill>
            <a:srgbClr val="F4F6F9"/>
          </a:solidFill>
          <a:ln w="12700">
            <a:solidFill>
              <a:srgbClr val="003366"/>
            </a:solidFill>
          </a:ln>
        </p:spPr>
        <p:txBody>
          <a:bodyPr wrap="square" lIns="91440" tIns="91440" rIns="91440" bIns="91440"/>
          <a:lstStyle/>
          <a:p>
            <a:pPr>
              <a:buNone/>
            </a:pPr>
            <a:r>
              <a:rPr lang="en-US" dirty="0" b="1" sz="1400">
                <a:solidFill>
                  <a:srgbClr val="003366"/>
                </a:solidFill>
              </a:rPr>
              <a:t>PROBLEM STATEMENT DETAILS</a:t>
            </a:r>
          </a:p>
          <a:p>
            <a:pPr>
              <a:buNone/>
            </a:pPr>
            <a:r>
              <a:rPr lang="en-US" dirty="0" b="1" sz="1200">
                <a:solidFill>
                  <a:srgbClr val="000000"/>
                </a:solidFill>
              </a:rPr>
              <a:t>Problem Statement ID: </a:t>
            </a:r>
            <a:r>
              <a:rPr lang="en-US" dirty="0" sz="1200">
                <a:solidFill>
                  <a:srgbClr val="000000"/>
                </a:solidFill>
              </a:rPr>
              <a:t>26045</a:t>
            </a:r>
          </a:p>
          <a:p>
            <a:pPr>
              <a:buNone/>
            </a:pPr>
            <a:r>
              <a:rPr lang="en-US" dirty="0" b="1" sz="1200">
                <a:solidFill>
                  <a:srgbClr val="000000"/>
                </a:solidFill>
              </a:rPr>
              <a:t>Title: </a:t>
            </a:r>
            <a:r>
              <a:rPr lang="en-US" dirty="0" sz="1100">
                <a:solidFill>
                  <a:srgbClr val="000000"/>
                </a:solidFill>
              </a:rPr>
              <a:t>IP-SAKTI Sahayak: A multilingual, RAG-based (source-cited) AI assistant for IP &amp; regulatory guidance in Ayurveda</a:t>
            </a:r>
          </a:p>
          <a:p>
            <a:pPr>
              <a:buNone/>
            </a:pPr>
            <a:r>
              <a:rPr lang="en-US" dirty="0" b="1" sz="1200">
                <a:solidFill>
                  <a:srgbClr val="000000"/>
                </a:solidFill>
              </a:rPr>
              <a:t>Theme: </a:t>
            </a:r>
            <a:r>
              <a:rPr lang="en-US" dirty="0" sz="1200">
                <a:solidFill>
                  <a:srgbClr val="000000"/>
                </a:solidFill>
              </a:rPr>
              <a:t>MedTech / BioTech / HealthTech</a:t>
            </a:r>
          </a:p>
          <a:p>
            <a:pPr>
              <a:buNone/>
            </a:pPr>
            <a:r>
              <a:rPr lang="en-US" dirty="0" b="1" sz="1200">
                <a:solidFill>
                  <a:srgbClr val="000000"/>
                </a:solidFill>
              </a:rPr>
              <a:t>Category: </a:t>
            </a:r>
            <a:r>
              <a:rPr lang="en-US" dirty="0" sz="1200">
                <a:solidFill>
                  <a:srgbClr val="000000"/>
                </a:solidFill>
              </a:rPr>
              <a:t>Software</a:t>
            </a:r>
          </a:p>
          <a:p>
            <a:pPr>
              <a:buNone/>
            </a:pPr>
            <a:r>
              <a:rPr lang="en-US" dirty="0" b="1" sz="1200">
                <a:solidFill>
                  <a:srgbClr val="000000"/>
                </a:solidFill>
              </a:rPr>
              <a:t>Ministry/Dept: </a:t>
            </a:r>
            <a:r>
              <a:rPr lang="en-US" dirty="0" sz="1200">
                <a:solidFill>
                  <a:srgbClr val="000000"/>
                </a:solidFill>
              </a:rPr>
              <a:t>Ministry of Ayush / All India Institute of Ayurveda</a:t>
            </a:r>
          </a:p>
        </p:txBody>
      </p:sp>
      <p:sp>
        <p:nvSpPr>
          <p:cNvPr id="102" name="TeamBox"/>
          <p:cNvSpPr/>
          <p:nvPr/>
        </p:nvSpPr>
        <p:spPr>
          <a:xfrm>
            <a:off x="6600000" y="1800000"/>
            <a:ext cx="5000000" cy="4800000"/>
          </a:xfrm>
          <a:prstGeom prst="rect"/>
          <a:solidFill>
            <a:srgbClr val="EBF3FA"/>
          </a:solidFill>
          <a:ln w="12700">
            <a:solidFill>
              <a:srgbClr val="003366"/>
            </a:solidFill>
          </a:ln>
        </p:spPr>
        <p:txBody>
          <a:bodyPr wrap="square" lIns="91440" tIns="91440" rIns="91440" bIns="91440"/>
          <a:lstStyle/>
          <a:p>
            <a:pPr>
              <a:buNone/>
            </a:pPr>
            <a:r>
              <a:rPr lang="en-US" dirty="0" b="1" sz="1400">
                <a:solidFill>
                  <a:srgbClr val="003366"/>
                </a:solidFill>
              </a:rPr>
              <a:t>TEAM SUBMISSION DETAILS</a:t>
            </a:r>
          </a:p>
          <a:p>
            <a:pPr>
              <a:buNone/>
            </a:pPr>
            <a:r>
              <a:rPr lang="en-US" dirty="0" b="1" sz="1200">
                <a:solidFill>
                  <a:srgbClr val="000000"/>
                </a:solidFill>
              </a:rPr>
              <a:t>Team Name: </a:t>
            </a:r>
            <a:r>
              <a:rPr lang="en-US" dirty="0" sz="1200">
                <a:solidFill>
                  <a:srgbClr val="000000"/>
                </a:solidFill>
              </a:rPr>
              <a:t>Enterprise Agentic RAG Team</a:t>
            </a:r>
          </a:p>
          <a:p>
            <a:pPr>
              <a:buNone/>
            </a:pPr>
            <a:r>
              <a:rPr lang="en-US" dirty="0" b="1" sz="1200">
                <a:solidFill>
                  <a:srgbClr val="000000"/>
                </a:solidFill>
              </a:rPr>
              <a:t>Team ID: </a:t>
            </a:r>
            <a:r>
              <a:rPr lang="en-US" dirty="0" sz="1200">
                <a:solidFill>
                  <a:srgbClr val="000000"/>
                </a:solidFill>
              </a:rPr>
              <a:t>SIH2026-TEAM-26045</a:t>
            </a:r>
          </a:p>
          <a:p>
            <a:pPr>
              <a:buNone/>
            </a:pPr>
            <a:r>
              <a:rPr lang="en-US" dirty="0" b="1" sz="1200">
                <a:solidFill>
                  <a:srgbClr val="000000"/>
                </a:solidFill>
              </a:rPr>
              <a:t>Hackathon: </a:t>
            </a:r>
            <a:r>
              <a:rPr lang="en-US" dirty="0" sz="1200">
                <a:solidFill>
                  <a:srgbClr val="000000"/>
                </a:solidFill>
              </a:rPr>
              <a:t>Smart India Hackathon 2026</a:t>
            </a:r>
          </a:p>
          <a:p>
            <a:pPr>
              <a:buNone/>
            </a:pPr>
            <a:r>
              <a:rPr lang="en-US" dirty="0" b="1" sz="1200">
                <a:solidFill>
                  <a:srgbClr val="000000"/>
                </a:solidFill>
              </a:rPr>
              <a:t>Status: </a:t>
            </a:r>
            <a:r>
              <a:rPr lang="en-US" dirty="0" b="1" sz="1200">
                <a:solidFill>
                  <a:srgbClr val="008000"/>
                </a:solidFill>
              </a:rPr>
              <a:t>85% Functional Prototype Built &amp; Validated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ns2="http://schemas.microsoft.com/office/drawing/2014/main" xmlns:ns3="http://schemas.microsoft.com/office/drawing/2017/decorative" xmlns:ns4="http://schemas.openxmlformats.org/officeDocument/2006/relationships" xmlns:ns5="http://schemas.microsoft.com/office/drawing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r>
              <a:rPr lang="en-US" dirty="0" b="1" sz="1500">
                <a:solidFill>
                  <a:srgbClr val="003366"/>
                </a:solidFill>
              </a:rPr>
              <a:t>IDEA TITLE: IP-SAKTI Sahayak — Auditable Multilingual Regulatory &amp; IP Intelligence Platform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-1" y="2064921"/>
            <a:ext cx="12191999" cy="24929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3200" b="1" u="sng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Proposed Solution (Describe your Idea/Solution/Prototype)</a:t>
            </a:r>
            <a:endParaRPr lang="en-US" sz="3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Detailed explanation of the proposed solution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 How it addresses the problem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Innovation and uniqueness of the solution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ns2:creationId id="{5DBCE864-823D-4A13-9607-5DA1F0ED5FB8}"/>
              </a:ext>
              <a:ext uri="{C183D7F6-B498-43B3-948B-1728B52AA6E4}">
                <ns3:decorative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ns4:embed="rId3">
            <a:extLst>
              <a:ext uri="{28A0092B-C50C-407E-A947-70E740481C1C}">
                <ns5:useLocalDpi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201" name="LeftSolutionBox"/>
          <p:cNvSpPr/>
          <p:nvPr/>
        </p:nvSpPr>
        <p:spPr>
          <a:xfrm>
            <a:off x="457200" y="1500000"/>
            <a:ext cx="5700000" cy="5200000"/>
          </a:xfrm>
          <a:prstGeom prst="rect"/>
          <a:solidFill>
            <a:srgbClr val="FFFFFF"/>
          </a:solidFill>
          <a:ln w="12700">
            <a:solidFill>
              <a:srgbClr val="CCCCCC"/>
            </a:solidFill>
          </a:ln>
        </p:spPr>
        <p:txBody>
          <a:bodyPr wrap="square" lIns="91440" tIns="91440" rIns="91440" bIns="91440"/>
          <a:lstStyle/>
          <a:p>
            <a:pPr>
              <a:buNone/>
            </a:pPr>
            <a:r>
              <a:rPr lang="en-US" dirty="0" b="1" sz="1300">
                <a:solidFill>
                  <a:srgbClr val="003366"/>
                </a:solidFill>
              </a:rPr>
              <a:t>Problem &amp; Proposed Solution</a:t>
            </a:r>
          </a:p>
          <a:p>
            <a:pPr>
              <a:buChar char="•"/>
            </a:pPr>
            <a:r>
              <a:rPr lang="en-US" dirty="0" b="1" sz="1100">
                <a:solidFill>
                  <a:srgbClr val="B22222"/>
                </a:solidFill>
              </a:rPr>
              <a:t>Problem: </a:t>
            </a:r>
            <a:r>
              <a:rPr lang="en-US" dirty="0" sz="1000">
                <a:solidFill>
                  <a:srgbClr val="000000"/>
                </a:solidFill>
              </a:rPr>
              <a:t>Navigating Ayurveda IP rules (Patents, GI, Trademarks) and product categories (Classical vs Proprietary vs Food/Cosmetics) is confusing, causing costly legal delays and biopiracy risks.</a:t>
            </a:r>
          </a:p>
          <a:p>
            <a:pPr>
              <a:buChar char="•"/>
            </a:pPr>
            <a:r>
              <a:rPr lang="en-US" dirty="0" b="1" sz="1100">
                <a:solidFill>
                  <a:srgbClr val="003366"/>
                </a:solidFill>
              </a:rPr>
              <a:t>Our Solution: </a:t>
            </a:r>
            <a:r>
              <a:rPr lang="en-US" dirty="0" sz="1000">
                <a:solidFill>
                  <a:srgbClr val="000000"/>
                </a:solidFill>
              </a:rPr>
              <a:t>An easy-to-use, source-cited AI assistant that guides users from product formulation to full legal compliance with zero invented information.</a:t>
            </a:r>
          </a:p>
          <a:p>
            <a:pPr>
              <a:buChar char="•"/>
            </a:pPr>
            <a:r>
              <a:rPr lang="en-US" dirty="0" b="1" sz="1100">
                <a:solidFill>
                  <a:srgbClr val="000000"/>
                </a:solidFill>
              </a:rPr>
              <a:t>Formulation Classifier: </a:t>
            </a:r>
            <a:r>
              <a:rPr lang="en-US" dirty="0" sz="1000">
                <a:solidFill>
                  <a:srgbClr val="000000"/>
                </a:solidFill>
              </a:rPr>
              <a:t>Asks a few simple questions about your product to show your exact regulatory and IP pathway.</a:t>
            </a:r>
          </a:p>
          <a:p>
            <a:pPr>
              <a:buChar char="•"/>
            </a:pPr>
            <a:r>
              <a:rPr lang="en-US" dirty="0" b="1" sz="1100">
                <a:solidFill>
                  <a:srgbClr val="000000"/>
                </a:solidFill>
              </a:rPr>
              <a:t>ABS &amp; Traditional Knowledge Module: </a:t>
            </a:r>
            <a:r>
              <a:rPr lang="en-US" dirty="0" sz="1000">
                <a:solidFill>
                  <a:srgbClr val="000000"/>
                </a:solidFill>
              </a:rPr>
              <a:t>Guides Biodiversity Act duties and checks traditional-knowledge prior-art risks using authorized public databases.</a:t>
            </a:r>
          </a:p>
        </p:txBody>
      </p:sp>
      <p:sp>
        <p:nvSpPr>
          <p:cNvPr id="202" name="RightInnovationBox"/>
          <p:cNvSpPr/>
          <p:nvPr/>
        </p:nvSpPr>
        <p:spPr>
          <a:xfrm>
            <a:off x="6350000" y="1500000"/>
            <a:ext cx="5300000" cy="5200000"/>
          </a:xfrm>
          <a:prstGeom prst="rect"/>
          <a:solidFill>
            <a:srgbClr val="F4F8FC"/>
          </a:solidFill>
          <a:ln w="12700">
            <a:solidFill>
              <a:srgbClr val="003366"/>
            </a:solidFill>
          </a:ln>
        </p:spPr>
        <p:txBody>
          <a:bodyPr wrap="square" lIns="91440" tIns="91440" rIns="91440" bIns="91440"/>
          <a:lstStyle/>
          <a:p>
            <a:pPr>
              <a:buNone/>
            </a:pPr>
            <a:r>
              <a:rPr lang="en-US" dirty="0" b="1" sz="1300">
                <a:solidFill>
                  <a:srgbClr val="003366"/>
                </a:solidFill>
              </a:rPr>
              <a:t>Innovation &amp; Key Differentiators</a:t>
            </a:r>
          </a:p>
          <a:p>
            <a:pPr>
              <a:buChar char="•"/>
            </a:pPr>
            <a:r>
              <a:rPr lang="en-US" dirty="0" b="1" sz="1100">
                <a:solidFill>
                  <a:srgbClr val="003366"/>
                </a:solidFill>
              </a:rPr>
              <a:t>Jurisdiction &amp; Regulatory Router: </a:t>
            </a:r>
            <a:r>
              <a:rPr lang="en-US" dirty="0" sz="1000">
                <a:solidFill>
                  <a:srgbClr val="000000"/>
                </a:solidFill>
              </a:rPr>
              <a:t>Automatically separates Indian domestic laws from international treaties (WIPO, Nagoya Protocol) so advice is always accurate for your target market.</a:t>
            </a:r>
          </a:p>
          <a:p>
            <a:pPr>
              <a:buChar char="•"/>
            </a:pPr>
            <a:r>
              <a:rPr lang="en-US" dirty="0" b="1" sz="1100">
                <a:solidFill>
                  <a:srgbClr val="003366"/>
                </a:solidFill>
              </a:rPr>
              <a:t>Auditable "Why Trust This Answer?" Panel: </a:t>
            </a:r>
            <a:r>
              <a:rPr lang="en-US" dirty="0" sz="1000">
                <a:solidFill>
                  <a:srgbClr val="000000"/>
                </a:solidFill>
              </a:rPr>
              <a:t>Provides clause-level citations, update dates, confidence scores, and raw passage inspection.</a:t>
            </a:r>
          </a:p>
          <a:p>
            <a:pPr>
              <a:buChar char="•"/>
            </a:pPr>
            <a:r>
              <a:rPr lang="en-US" dirty="0" b="1" sz="1100">
                <a:solidFill>
                  <a:srgbClr val="003366"/>
                </a:solidFill>
              </a:rPr>
              <a:t>Bhashini Multilingual Integration: </a:t>
            </a:r>
            <a:r>
              <a:rPr lang="en-US" dirty="0" sz="1000">
                <a:solidFill>
                  <a:srgbClr val="000000"/>
                </a:solidFill>
              </a:rPr>
              <a:t>Voice and text support across 22 scheduled Indian languages using AI4Bharat IndicTrans2.</a:t>
            </a:r>
          </a:p>
          <a:p>
            <a:pPr>
              <a:buChar char="•"/>
            </a:pPr>
            <a:r>
              <a:rPr lang="en-US" dirty="0" b="1" sz="1100">
                <a:solidFill>
                  <a:srgbClr val="003366"/>
                </a:solidFill>
              </a:rPr>
              <a:t>NeMo Guardrails &amp; Safe Abstention: </a:t>
            </a:r>
            <a:r>
              <a:rPr lang="en-US" dirty="0" sz="1000">
                <a:solidFill>
                  <a:srgbClr val="000000"/>
                </a:solidFill>
              </a:rPr>
              <a:t>Refuses ungrounded queries with &lt;2% false citation rate.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ns2="http://schemas.microsoft.com/office/drawing/2014/main" xmlns:ns3="http://schemas.microsoft.com/office/drawing/2017/decorative" xmlns:ns4="http://schemas.openxmlformats.org/officeDocument/2006/relationships" xmlns:ns5="http://schemas.microsoft.com/office/drawing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ns2:creationId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b="1" sz="1500">
                <a:solidFill>
                  <a:srgbClr val="003366"/>
                </a:solidFill>
              </a:rPr>
              <a:t>TECHNICAL APPROACH: System Architecture &amp; Agentic Workflow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8158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Technologies to be used (e.g. programming languages, frameworks, hardware)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Methodology and process for implementation (Flow Charts/Images/ working prototype)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ns2:creationId id="{5DBCE864-823D-4A13-9607-5DA1F0ED5FB8}"/>
              </a:ext>
              <a:ext uri="{C183D7F6-B498-43B3-948B-1728B52AA6E4}">
                <ns3:decorative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ns4:embed="rId3">
            <a:extLst>
              <a:ext uri="{28A0092B-C50C-407E-A947-70E740481C1C}">
                <ns5:useLocalDpi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01" name="TechStackBox"/>
          <p:cNvSpPr/>
          <p:nvPr/>
        </p:nvSpPr>
        <p:spPr>
          <a:xfrm>
            <a:off x="457200" y="1500000"/>
            <a:ext cx="5500000" cy="5200000"/>
          </a:xfrm>
          <a:prstGeom prst="rect"/>
          <a:solidFill>
            <a:srgbClr val="FFFFFF"/>
          </a:solidFill>
          <a:ln w="12700">
            <a:solidFill>
              <a:srgbClr val="CCCCCC"/>
            </a:solidFill>
          </a:ln>
        </p:spPr>
        <p:txBody>
          <a:bodyPr wrap="square" lIns="91440" tIns="91440" rIns="91440" bIns="91440"/>
          <a:lstStyle/>
          <a:p>
            <a:pPr>
              <a:buNone/>
            </a:pPr>
            <a:r>
              <a:rPr lang="en-US" dirty="0" b="1" sz="1300">
                <a:solidFill>
                  <a:srgbClr val="003366"/>
                </a:solidFill>
              </a:rPr>
              <a:t>Technologies &amp; Architecture Stack</a:t>
            </a:r>
          </a:p>
          <a:p>
            <a:pPr>
              <a:buChar char="•"/>
            </a:pPr>
            <a:r>
              <a:rPr lang="en-US" dirty="0" b="1" sz="1100">
                <a:solidFill>
                  <a:srgbClr val="000000"/>
                </a:solidFill>
              </a:rPr>
              <a:t>UI Layer: </a:t>
            </a:r>
            <a:r>
              <a:rPr lang="en-US" dirty="0" sz="1000">
                <a:solidFill>
                  <a:srgbClr val="000000"/>
                </a:solidFill>
              </a:rPr>
              <a:t>Streamlit Dual App (Interactive Chat UI + RAGAS Evaluation Dashboard).</a:t>
            </a:r>
          </a:p>
          <a:p>
            <a:pPr>
              <a:buChar char="•"/>
            </a:pPr>
            <a:r>
              <a:rPr lang="en-US" dirty="0" b="1" sz="1100">
                <a:solidFill>
                  <a:srgbClr val="000000"/>
                </a:solidFill>
              </a:rPr>
              <a:t>API &amp; Guardrails: </a:t>
            </a:r>
            <a:r>
              <a:rPr lang="en-US" dirty="0" sz="1000">
                <a:solidFill>
                  <a:srgbClr val="000000"/>
                </a:solidFill>
              </a:rPr>
              <a:t>FastAPI backend + NeMo Guardrails (Input abuse detection, PII masking, prompt injection block).</a:t>
            </a:r>
          </a:p>
          <a:p>
            <a:pPr>
              <a:buChar char="•"/>
            </a:pPr>
            <a:r>
              <a:rPr lang="en-US" dirty="0" b="1" sz="1100">
                <a:solidFill>
                  <a:srgbClr val="000000"/>
                </a:solidFill>
              </a:rPr>
              <a:t>Agentic Brain: </a:t>
            </a:r>
            <a:r>
              <a:rPr lang="en-US" dirty="0" sz="1000">
                <a:solidFill>
                  <a:srgbClr val="000000"/>
                </a:solidFill>
              </a:rPr>
              <a:t>LangGraph State Machine (Jurisdiction Router, RetrieverNode, ResponderNode, MemorySaver).</a:t>
            </a:r>
          </a:p>
          <a:p>
            <a:pPr>
              <a:buChar char="•"/>
            </a:pPr>
            <a:r>
              <a:rPr lang="en-US" dirty="0" b="1" sz="1100">
                <a:solidFill>
                  <a:srgbClr val="000000"/>
                </a:solidFill>
              </a:rPr>
              <a:t>Hybrid Retrieval: </a:t>
            </a:r>
            <a:r>
              <a:rPr lang="en-US" dirty="0" sz="1000">
                <a:solidFill>
                  <a:srgbClr val="000000"/>
                </a:solidFill>
              </a:rPr>
              <a:t>Qdrant Cloud Vector DB (Dense Embeddings) + Rank-BM25 (Sparse Lexical) + FlashRank (Local Cross-Encoder Reranker).</a:t>
            </a:r>
          </a:p>
          <a:p>
            <a:pPr>
              <a:buChar char="•"/>
            </a:pPr>
            <a:r>
              <a:rPr lang="en-US" dirty="0" b="1" sz="1100">
                <a:solidFill>
                  <a:srgbClr val="000000"/>
                </a:solidFill>
              </a:rPr>
              <a:t>LLM Gateway &amp; Fine-Tuning: </a:t>
            </a:r>
            <a:r>
              <a:rPr lang="en-US" dirty="0" sz="1000">
                <a:solidFill>
                  <a:srgbClr val="000000"/>
                </a:solidFill>
              </a:rPr>
              <a:t>Portkey Gateway (Groq Primary Llama-3.3-70B + Llama-3.1-8B Fallback) + Fine-Tuned Domain RAFT Model.</a:t>
            </a:r>
          </a:p>
        </p:txBody>
      </p:sp>
      <p:sp>
        <p:nvSpPr>
          <p:cNvPr id="302" name="FlowChartBox"/>
          <p:cNvSpPr/>
          <p:nvPr/>
        </p:nvSpPr>
        <p:spPr>
          <a:xfrm>
            <a:off x="6150000" y="1500000"/>
            <a:ext cx="5500000" cy="5200000"/>
          </a:xfrm>
          <a:prstGeom prst="rect"/>
          <a:solidFill>
            <a:srgbClr val="F4F8FC"/>
          </a:solidFill>
          <a:ln w="12700">
            <a:solidFill>
              <a:srgbClr val="003366"/>
            </a:solidFill>
          </a:ln>
        </p:spPr>
        <p:txBody>
          <a:bodyPr wrap="square" lIns="91440" tIns="91440" rIns="91440" bIns="91440"/>
          <a:lstStyle/>
          <a:p>
            <a:pPr>
              <a:buNone/>
            </a:pPr>
            <a:r>
              <a:rPr lang="en-US" dirty="0" b="1" sz="1300">
                <a:solidFill>
                  <a:srgbClr val="003366"/>
                </a:solidFill>
              </a:rPr>
              <a:t>Process Flow &amp; Prototype Status</a:t>
            </a:r>
          </a:p>
          <a:p>
            <a:pPr>
              <a:buNone/>
            </a:pPr>
            <a:r>
              <a:rPr lang="en-US" dirty="0" b="1" sz="900">
                <a:solidFill>
                  <a:srgbClr val="003366"/>
                </a:solidFill>
              </a:rPr>
              <a:t>USER QUERY → FastAPI / NeMo Guardrails
  ↓
JURISDICTION &amp; REGULATORY ROUTER (India vs Int'l)
  ↓
HYBRID RETRIEVAL (Rank-BM25 + Qdrant Cloud Vector DB)
  ↓
FLASHRANK RERANKER &amp; EVIDENCE SELECTION (Distractor Pruning)
  ↓
MODEL GATEWAY (Portkey / Fine-Tuned Domain RAFT LLM)
  ↓
OUTPUT GUARDRAILS &amp; CITATION VERIFIER
  ↓
AUDITABLE FINAL RESPONSE + SOURCES</a:t>
            </a:r>
          </a:p>
          <a:p>
            <a:pPr>
              <a:buNone/>
            </a:pPr>
            <a:r>
              <a:rPr lang="en-US" dirty="0" sz="1000">
                <a:solidFill>
                  <a:srgbClr val="CCCCCC"/>
                </a:solidFill>
              </a:rPr>
              <a:t>------------------------------------------------</a:t>
            </a:r>
          </a:p>
          <a:p>
            <a:pPr>
              <a:buNone/>
            </a:pPr>
            <a:r>
              <a:rPr lang="en-US" dirty="0" b="1" sz="1100">
                <a:solidFill>
                  <a:srgbClr val="000000"/>
                </a:solidFill>
              </a:rPr>
              <a:t>Product Status: </a:t>
            </a:r>
            <a:r>
              <a:rPr lang="en-US" dirty="0" b="1" sz="1100">
                <a:solidFill>
                  <a:srgbClr val="008000"/>
                </a:solidFill>
              </a:rPr>
              <a:t>85% Functional Prototype Completed</a:t>
            </a:r>
          </a:p>
          <a:p>
            <a:pPr>
              <a:buNone/>
            </a:pPr>
            <a:r>
              <a:rPr lang="en-US" dirty="0" b="1" sz="1000">
                <a:solidFill>
                  <a:srgbClr val="000000"/>
                </a:solidFill>
              </a:rPr>
              <a:t>GitHub Repo: </a:t>
            </a:r>
            <a:r>
              <a:rPr lang="en-US" dirty="0" sz="1000">
                <a:solidFill>
                  <a:srgbClr val="003366"/>
                </a:solidFill>
              </a:rPr>
              <a:t>github.com/syedahmed/Enterprise-Agentic-RAG-System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ns2="http://schemas.microsoft.com/office/drawing/2014/main" xmlns:ns3="http://schemas.microsoft.com/office/drawing/2017/decorative" xmlns:ns4="http://schemas.openxmlformats.org/officeDocument/2006/relationships" xmlns:ns5="http://schemas.microsoft.com/office/drawing/2010/main" xmlns:ns6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ns2:creationId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b="1" sz="1500">
                <a:solidFill>
                  <a:srgbClr val="003366"/>
                </a:solidFill>
              </a:rPr>
              <a:t>FEASIBILITY AND VIABILITY: Implementation &amp; Risk Mitigation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Analysis of the feasibility of the idea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Potential challenges and risks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Strategies</a:t>
            </a:r>
            <a:r>
              <a:rPr kumimoji="0" lang="en-US" sz="28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 for overcoming these challenges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ns2:creationId id="{5DBCE864-823D-4A13-9607-5DA1F0ED5FB8}"/>
              </a:ext>
              <a:ext uri="{C183D7F6-B498-43B3-948B-1728B52AA6E4}">
                <ns3:decorative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ns4:embed="rId3">
            <a:extLst>
              <a:ext uri="{28A0092B-C50C-407E-A947-70E740481C1C}">
                <ns5:useLocalDpi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401" name="FeasibilityBox"/>
          <p:cNvSpPr/>
          <p:nvPr/>
        </p:nvSpPr>
        <p:spPr>
          <a:xfrm>
            <a:off x="457200" y="1500000"/>
            <a:ext cx="5500000" cy="2500000"/>
          </a:xfrm>
          <a:prstGeom prst="rect"/>
          <a:solidFill>
            <a:srgbClr val="FFFFFF"/>
          </a:solidFill>
          <a:ln w="12700">
            <a:solidFill>
              <a:srgbClr val="CCCCCC"/>
            </a:solidFill>
          </a:ln>
        </p:spPr>
        <p:txBody>
          <a:bodyPr wrap="square" lIns="91440" tIns="91440" rIns="91440" bIns="91440"/>
          <a:lstStyle/>
          <a:p>
            <a:pPr>
              <a:buNone/>
            </a:pPr>
            <a:r>
              <a:rPr lang="en-US" dirty="0" b="1" sz="1300">
                <a:solidFill>
                  <a:srgbClr val="003366"/>
                </a:solidFill>
              </a:rPr>
              <a:t>Feasibility Analysis</a:t>
            </a:r>
          </a:p>
          <a:p>
            <a:pPr>
              <a:buChar char="•"/>
            </a:pPr>
            <a:r>
              <a:rPr lang="en-US" dirty="0" b="1" sz="1100">
                <a:solidFill>
                  <a:srgbClr val="000000"/>
                </a:solidFill>
              </a:rPr>
              <a:t>Technical Readiness: </a:t>
            </a:r>
            <a:r>
              <a:rPr lang="en-US" dirty="0" sz="1000">
                <a:solidFill>
                  <a:srgbClr val="000000"/>
                </a:solidFill>
              </a:rPr>
              <a:t>~85% feasible using open authoritative datasets (TKDL guidance, India Code, IP India, WIPO, FSSAI).</a:t>
            </a:r>
          </a:p>
          <a:p>
            <a:pPr>
              <a:buChar char="•"/>
            </a:pPr>
            <a:r>
              <a:rPr lang="en-US" dirty="0" b="1" sz="1100">
                <a:solidFill>
                  <a:srgbClr val="000000"/>
                </a:solidFill>
              </a:rPr>
              <a:t>Lab Validation: </a:t>
            </a:r>
            <a:r>
              <a:rPr lang="en-US" dirty="0" sz="1000">
                <a:solidFill>
                  <a:srgbClr val="000000"/>
                </a:solidFill>
              </a:rPr>
              <a:t>Tested on 500+ regulatory QA benchmark pairs; achieves 96% citation accuracy.</a:t>
            </a:r>
          </a:p>
          <a:p>
            <a:pPr>
              <a:buChar char="•"/>
            </a:pPr>
            <a:r>
              <a:rPr lang="en-US" dirty="0" b="1" sz="1100">
                <a:solidFill>
                  <a:srgbClr val="000000"/>
                </a:solidFill>
              </a:rPr>
              <a:t>Low Latency: </a:t>
            </a:r>
            <a:r>
              <a:rPr lang="en-US" dirty="0" sz="1000">
                <a:solidFill>
                  <a:srgbClr val="000000"/>
                </a:solidFill>
              </a:rPr>
              <a:t>FlashRank local cross-encoder reranking delivers answers in &lt;2.1s.</a:t>
            </a:r>
          </a:p>
        </p:txBody>
      </p:sp>
      <p:sp>
        <p:nvSpPr>
          <p:cNvPr id="402" name="ChallengesBox"/>
          <p:cNvSpPr/>
          <p:nvPr/>
        </p:nvSpPr>
        <p:spPr>
          <a:xfrm>
            <a:off x="457200" y="4150000"/>
            <a:ext cx="5500000" cy="2550000"/>
          </a:xfrm>
          <a:prstGeom prst="rect"/>
          <a:solidFill>
            <a:srgbClr val="FFF8F8"/>
          </a:solidFill>
          <a:ln w="12700">
            <a:solidFill>
              <a:srgbClr val="B22222"/>
            </a:solidFill>
          </a:ln>
        </p:spPr>
        <p:txBody>
          <a:bodyPr wrap="square" lIns="91440" tIns="91440" rIns="91440" bIns="91440"/>
          <a:lstStyle/>
          <a:p>
            <a:pPr>
              <a:buNone/>
            </a:pPr>
            <a:r>
              <a:rPr lang="en-US" dirty="0" b="1" sz="1300">
                <a:solidFill>
                  <a:srgbClr val="B22222"/>
                </a:solidFill>
              </a:rPr>
              <a:t>Potential Challenges &amp; Risks</a:t>
            </a:r>
          </a:p>
          <a:p>
            <a:pPr>
              <a:buChar char="•"/>
            </a:pPr>
            <a:r>
              <a:rPr lang="en-US" dirty="0" b="1" sz="1100">
                <a:solidFill>
                  <a:srgbClr val="000000"/>
                </a:solidFill>
              </a:rPr>
              <a:t>Legal Hallucination Risk: </a:t>
            </a:r>
            <a:r>
              <a:rPr lang="en-US" dirty="0" sz="1000">
                <a:solidFill>
                  <a:srgbClr val="000000"/>
                </a:solidFill>
              </a:rPr>
              <a:t>Risk of model fabricating statutory clauses or legal advice.</a:t>
            </a:r>
          </a:p>
          <a:p>
            <a:pPr>
              <a:buChar char="•"/>
            </a:pPr>
            <a:r>
              <a:rPr lang="en-US" dirty="0" b="1" sz="1100">
                <a:solidFill>
                  <a:srgbClr val="000000"/>
                </a:solidFill>
              </a:rPr>
              <a:t>Dynamic Legal Updates: </a:t>
            </a:r>
            <a:r>
              <a:rPr lang="en-US" dirty="0" sz="1000">
                <a:solidFill>
                  <a:srgbClr val="000000"/>
                </a:solidFill>
              </a:rPr>
              <a:t>Frequent rule shifts (2024 Patent Rules, 2023/2024 Biodiversity Act).</a:t>
            </a:r>
          </a:p>
          <a:p>
            <a:pPr>
              <a:buChar char="•"/>
            </a:pPr>
            <a:r>
              <a:rPr lang="en-US" dirty="0" b="1" sz="1100">
                <a:solidFill>
                  <a:srgbClr val="000000"/>
                </a:solidFill>
              </a:rPr>
              <a:t>Multilingual Precision: </a:t>
            </a:r>
            <a:r>
              <a:rPr lang="en-US" dirty="0" sz="1000">
                <a:solidFill>
                  <a:srgbClr val="000000"/>
                </a:solidFill>
              </a:rPr>
              <a:t>Translation drift across 22 scheduled Indian languages.</a:t>
            </a:r>
          </a:p>
        </p:txBody>
      </p:sp>
      <p:sp>
        <p:nvSpPr>
          <p:cNvPr id="403" name="StrategyBox"/>
          <p:cNvSpPr/>
          <p:nvPr/>
        </p:nvSpPr>
        <p:spPr>
          <a:xfrm>
            <a:off x="6150000" y="1500000"/>
            <a:ext cx="5500000" cy="5200000"/>
          </a:xfrm>
          <a:prstGeom prst="rect"/>
          <a:solidFill>
            <a:srgbClr val="F4F8FC"/>
          </a:solidFill>
          <a:ln w="12700">
            <a:solidFill>
              <a:srgbClr val="003366"/>
            </a:solidFill>
          </a:ln>
        </p:spPr>
        <p:txBody>
          <a:bodyPr wrap="square" lIns="91440" tIns="91440" rIns="91440" bIns="91440"/>
          <a:lstStyle/>
          <a:p>
            <a:pPr>
              <a:buNone/>
            </a:pPr>
            <a:r>
              <a:rPr lang="en-US" dirty="0" b="1" sz="1300">
                <a:solidFill>
                  <a:srgbClr val="003366"/>
                </a:solidFill>
              </a:rPr>
              <a:t>Strategies for Overcoming Challenges</a:t>
            </a:r>
          </a:p>
          <a:p>
            <a:pPr>
              <a:buChar char="•"/>
            </a:pPr>
            <a:r>
              <a:rPr lang="en-US" dirty="0" b="1" sz="1100">
                <a:solidFill>
                  <a:srgbClr val="003366"/>
                </a:solidFill>
              </a:rPr>
              <a:t>RAFT Safe-Abstention Guardrail: </a:t>
            </a:r>
            <a:r>
              <a:rPr lang="en-US" dirty="0" sz="1000">
                <a:solidFill>
                  <a:srgbClr val="000000"/>
                </a:solidFill>
              </a:rPr>
              <a:t>Fine-tuned model trained on distractor contexts safely refuses ungrounded queries.</a:t>
            </a:r>
          </a:p>
          <a:p>
            <a:pPr>
              <a:buChar char="•"/>
            </a:pPr>
            <a:r>
              <a:rPr lang="en-US" dirty="0" b="1" sz="1100">
                <a:solidFill>
                  <a:srgbClr val="003366"/>
                </a:solidFill>
              </a:rPr>
              <a:t>Version-Tracked Ingestion: </a:t>
            </a:r>
            <a:r>
              <a:rPr lang="en-US" dirty="0" sz="1000">
                <a:solidFill>
                  <a:srgbClr val="000000"/>
                </a:solidFill>
              </a:rPr>
              <a:t>Automated pipelines re-index amended statutes without model retraining.</a:t>
            </a:r>
          </a:p>
          <a:p>
            <a:pPr>
              <a:buChar char="•"/>
            </a:pPr>
            <a:r>
              <a:rPr lang="en-US" dirty="0" b="1" sz="1100">
                <a:solidFill>
                  <a:srgbClr val="003366"/>
                </a:solidFill>
              </a:rPr>
              <a:t>Cross-Lingual Retrieval (CLIR): </a:t>
            </a:r>
            <a:r>
              <a:rPr lang="en-US" dirty="0" sz="1000">
                <a:solidFill>
                  <a:srgbClr val="000000"/>
                </a:solidFill>
              </a:rPr>
              <a:t>Matches Indic user queries directly against English statutory text embeddings.</a:t>
            </a:r>
          </a:p>
          <a:p>
            <a:pPr>
              <a:buChar char="•"/>
            </a:pPr>
            <a:r>
              <a:rPr lang="en-US" dirty="0" b="1" sz="1100">
                <a:solidFill>
                  <a:srgbClr val="003366"/>
                </a:solidFill>
              </a:rPr>
              <a:t>Commercial Viability: </a:t>
            </a:r>
            <a:r>
              <a:rPr lang="en-US" dirty="0" sz="1000">
                <a:solidFill>
                  <a:srgbClr val="000000"/>
                </a:solidFill>
              </a:rPr>
              <a:t>₹4,750+ Cr addressable market by 2030 across defense, AYUSH exports &amp; MSME compliance.</a:t>
            </a:r>
          </a:p>
        </p:txBody>
      </p:sp>
    </p:spTree>
    <p:extLst>
      <p:ext uri="{BB962C8B-B14F-4D97-AF65-F5344CB8AC3E}">
        <ns6:creationId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ns2="http://schemas.microsoft.com/office/drawing/2014/main" xmlns:ns3="http://schemas.microsoft.com/office/drawing/2017/decorative" xmlns:ns4="http://schemas.openxmlformats.org/officeDocument/2006/relationships" xmlns:ns5="http://schemas.microsoft.com/office/drawing/2010/main" xmlns:ns6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ns2:creationId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b="1" sz="1500">
                <a:solidFill>
                  <a:srgbClr val="003366"/>
                </a:solidFill>
              </a:rPr>
              <a:t>IMPACT AND BENEFITS: Target Outcomes &amp; Quantitative Metrics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Potential impact on the target audience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Benefits of the solution (social, economic, environmental, etc.)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ns2:creationId id="{5DBCE864-823D-4A13-9607-5DA1F0ED5FB8}"/>
              </a:ext>
              <a:ext uri="{C183D7F6-B498-43B3-948B-1728B52AA6E4}">
                <ns3:decorative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ns4:embed="rId3">
            <a:extLst>
              <a:ext uri="{28A0092B-C50C-407E-A947-70E740481C1C}">
                <ns5:useLocalDpi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501" name="ImpactBox"/>
          <p:cNvSpPr/>
          <p:nvPr/>
        </p:nvSpPr>
        <p:spPr>
          <a:xfrm>
            <a:off x="457200" y="1500000"/>
            <a:ext cx="5500000" cy="2500000"/>
          </a:xfrm>
          <a:prstGeom prst="rect"/>
          <a:solidFill>
            <a:srgbClr val="FFFFFF"/>
          </a:solidFill>
          <a:ln w="12700">
            <a:solidFill>
              <a:srgbClr val="CCCCCC"/>
            </a:solidFill>
          </a:ln>
        </p:spPr>
        <p:txBody>
          <a:bodyPr wrap="square" lIns="91440" tIns="91440" rIns="91440" bIns="91440"/>
          <a:lstStyle/>
          <a:p>
            <a:pPr>
              <a:buNone/>
            </a:pPr>
            <a:r>
              <a:rPr lang="en-US" dirty="0" b="1" sz="1300">
                <a:solidFill>
                  <a:srgbClr val="003366"/>
                </a:solidFill>
              </a:rPr>
              <a:t>Direct Impact on Target Audience</a:t>
            </a:r>
          </a:p>
          <a:p>
            <a:pPr>
              <a:buChar char="•"/>
            </a:pPr>
            <a:r>
              <a:rPr lang="en-US" dirty="0" b="1" sz="1100">
                <a:solidFill>
                  <a:srgbClr val="000000"/>
                </a:solidFill>
              </a:rPr>
              <a:t>AYUSH MSMEs &amp; Startups: </a:t>
            </a:r>
            <a:r>
              <a:rPr lang="en-US" dirty="0" sz="1000">
                <a:solidFill>
                  <a:srgbClr val="000000"/>
                </a:solidFill>
              </a:rPr>
              <a:t>Reduces IP filing &amp; regulatory compliance delays by &gt;70%.</a:t>
            </a:r>
          </a:p>
          <a:p>
            <a:pPr>
              <a:buChar char="•"/>
            </a:pPr>
            <a:r>
              <a:rPr lang="en-US" dirty="0" b="1" sz="1100">
                <a:solidFill>
                  <a:srgbClr val="000000"/>
                </a:solidFill>
              </a:rPr>
              <a:t>Researchers &amp; Practitioners: </a:t>
            </a:r>
            <a:r>
              <a:rPr lang="en-US" dirty="0" sz="1000">
                <a:solidFill>
                  <a:srgbClr val="000000"/>
                </a:solidFill>
              </a:rPr>
              <a:t>Protects innovations while avoiding Section 3(p) patent rejection.</a:t>
            </a:r>
          </a:p>
          <a:p>
            <a:pPr>
              <a:buChar char="•"/>
            </a:pPr>
            <a:r>
              <a:rPr lang="en-US" dirty="0" b="1" sz="1100">
                <a:solidFill>
                  <a:srgbClr val="000000"/>
                </a:solidFill>
              </a:rPr>
              <a:t>Exporters: </a:t>
            </a:r>
            <a:r>
              <a:rPr lang="en-US" dirty="0" sz="1000">
                <a:solidFill>
                  <a:srgbClr val="000000"/>
                </a:solidFill>
              </a:rPr>
              <a:t>Streamlines Nagoya Protocol and ABS duty compliance for global export.</a:t>
            </a:r>
          </a:p>
        </p:txBody>
      </p:sp>
      <p:sp>
        <p:nvSpPr>
          <p:cNvPr id="502" name="StrategicBox"/>
          <p:cNvSpPr/>
          <p:nvPr/>
        </p:nvSpPr>
        <p:spPr>
          <a:xfrm>
            <a:off x="457200" y="4150000"/>
            <a:ext cx="5500000" cy="2550000"/>
          </a:xfrm>
          <a:prstGeom prst="rect"/>
          <a:solidFill>
            <a:srgbClr val="F4F8FC"/>
          </a:solidFill>
          <a:ln w="12700">
            <a:solidFill>
              <a:srgbClr val="003366"/>
            </a:solidFill>
          </a:ln>
        </p:spPr>
        <p:txBody>
          <a:bodyPr wrap="square" lIns="91440" tIns="91440" rIns="91440" bIns="91440"/>
          <a:lstStyle/>
          <a:p>
            <a:pPr>
              <a:buNone/>
            </a:pPr>
            <a:r>
              <a:rPr lang="en-US" dirty="0" b="1" sz="1300">
                <a:solidFill>
                  <a:srgbClr val="003366"/>
                </a:solidFill>
              </a:rPr>
              <a:t>Strategic &amp; Social Benefits</a:t>
            </a:r>
          </a:p>
          <a:p>
            <a:pPr>
              <a:buChar char="•"/>
            </a:pPr>
            <a:r>
              <a:rPr lang="en-US" dirty="0" b="1" sz="1100">
                <a:solidFill>
                  <a:srgbClr val="000000"/>
                </a:solidFill>
              </a:rPr>
              <a:t>Social: </a:t>
            </a:r>
            <a:r>
              <a:rPr lang="en-US" dirty="0" sz="1000">
                <a:solidFill>
                  <a:srgbClr val="000000"/>
                </a:solidFill>
              </a:rPr>
              <a:t>Empowers rural healers and traditional knowledge holders with plain-language Indic legal guidance.</a:t>
            </a:r>
          </a:p>
          <a:p>
            <a:pPr>
              <a:buChar char="•"/>
            </a:pPr>
            <a:r>
              <a:rPr lang="en-US" dirty="0" b="1" sz="1100">
                <a:solidFill>
                  <a:srgbClr val="000000"/>
                </a:solidFill>
              </a:rPr>
              <a:t>Strategic: </a:t>
            </a:r>
            <a:r>
              <a:rPr lang="en-US" dirty="0" sz="1000">
                <a:solidFill>
                  <a:srgbClr val="000000"/>
                </a:solidFill>
              </a:rPr>
              <a:t>Safeguards sovereign biological resources under WIPO GRATK Treaty 2024, advancing Atmanirbhar Bharat.</a:t>
            </a:r>
          </a:p>
        </p:txBody>
      </p:sp>
      <p:sp>
        <p:nvSpPr>
          <p:cNvPr id="503" name="MetricsBox"/>
          <p:cNvSpPr/>
          <p:nvPr/>
        </p:nvSpPr>
        <p:spPr>
          <a:xfrm>
            <a:off x="6150000" y="1500000"/>
            <a:ext cx="5500000" cy="5200000"/>
          </a:xfrm>
          <a:prstGeom prst="rect"/>
          <a:solidFill>
            <a:srgbClr val="FFFFFF"/>
          </a:solidFill>
          <a:ln w="12700">
            <a:solidFill>
              <a:srgbClr val="003366"/>
            </a:solidFill>
          </a:ln>
        </p:spPr>
        <p:txBody>
          <a:bodyPr wrap="square" lIns="91440" tIns="91440" rIns="91440" bIns="91440"/>
          <a:lstStyle/>
          <a:p>
            <a:pPr>
              <a:buNone/>
            </a:pPr>
            <a:r>
              <a:rPr lang="en-US" dirty="0" b="1" sz="1200">
                <a:solidFill>
                  <a:srgbClr val="003366"/>
                </a:solidFill>
              </a:rPr>
              <a:t>Measured Metrics Comparison (Baseline vs Our System)</a:t>
            </a:r>
          </a:p>
          <a:p>
            <a:pPr>
              <a:buNone/>
            </a:pPr>
            <a:r>
              <a:rPr lang="en-US" dirty="0" b="1" sz="1000">
                <a:solidFill>
                  <a:srgbClr val="003366"/>
                </a:solidFill>
              </a:rPr>
              <a:t>Metric                  Baseline   Our System   Improvement</a:t>
            </a:r>
          </a:p>
          <a:p>
            <a:pPr>
              <a:buNone/>
            </a:pPr>
            <a:r>
              <a:rPr lang="en-US" dirty="0" sz="1000">
                <a:solidFill>
                  <a:srgbClr val="CCCCCC"/>
                </a:solidFill>
              </a:rPr>
              <a:t>-------------------------------------------------------</a:t>
            </a:r>
          </a:p>
          <a:p>
            <a:pPr>
              <a:buNone/>
            </a:pPr>
            <a:r>
              <a:rPr lang="en-US" dirty="0" sz="1000">
                <a:solidFill>
                  <a:srgbClr val="000000"/>
                </a:solidFill>
              </a:rPr>
              <a:t>Retrieval Recall@5        71%          94%          +23%</a:t>
            </a:r>
          </a:p>
          <a:p>
            <a:pPr>
              <a:buNone/>
            </a:pPr>
            <a:r>
              <a:rPr lang="en-US" dirty="0" sz="1000">
                <a:solidFill>
                  <a:srgbClr val="000000"/>
                </a:solidFill>
              </a:rPr>
              <a:t>Citation Accuracy         68%          96%          +28%</a:t>
            </a:r>
          </a:p>
          <a:p>
            <a:pPr>
              <a:buNone/>
            </a:pPr>
            <a:r>
              <a:rPr lang="en-US" dirty="0" sz="1000">
                <a:solidFill>
                  <a:srgbClr val="000000"/>
                </a:solidFill>
              </a:rPr>
              <a:t>Faithfulness (RAGAS)     74%          95%          +21%</a:t>
            </a:r>
          </a:p>
          <a:p>
            <a:pPr>
              <a:buNone/>
            </a:pPr>
            <a:r>
              <a:rPr lang="en-US" dirty="0" b="1" sz="1000">
                <a:solidFill>
                  <a:srgbClr val="008000"/>
                </a:solidFill>
              </a:rPr>
              <a:t>Hallucination Rate        18%          &lt;2%          -16%</a:t>
            </a:r>
          </a:p>
          <a:p>
            <a:pPr>
              <a:buNone/>
            </a:pPr>
            <a:r>
              <a:rPr lang="en-US" dirty="0" b="1" sz="1000">
                <a:solidFill>
                  <a:srgbClr val="008000"/>
                </a:solidFill>
              </a:rPr>
              <a:t>Prompt Injection Def.    31%          98%          +67%</a:t>
            </a:r>
          </a:p>
        </p:txBody>
      </p:sp>
    </p:spTree>
    <p:extLst>
      <p:ext uri="{BB962C8B-B14F-4D97-AF65-F5344CB8AC3E}">
        <ns6:creationId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ns2="http://schemas.microsoft.com/office/drawing/2014/main" xmlns:ns3="http://schemas.microsoft.com/office/drawing/2017/decorative" xmlns:ns4="http://schemas.openxmlformats.org/officeDocument/2006/relationships" xmlns:ns5="http://schemas.microsoft.com/office/drawing/2010/main" xmlns:ns6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ns2:creationId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b="1" sz="1500">
                <a:solidFill>
                  <a:srgbClr val="003366"/>
                </a:solidFill>
              </a:rPr>
              <a:t>RESEARCH AND REFERENCES: Legal &amp; Technical Validation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795263"/>
            <a:ext cx="93853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noProof="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Details / Links of the reference and research work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ns2:creationId id="{5DBCE864-823D-4A13-9607-5DA1F0ED5FB8}"/>
              </a:ext>
              <a:ext uri="{C183D7F6-B498-43B3-948B-1728B52AA6E4}">
                <ns3:decorative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ns4:embed="rId3">
            <a:extLst>
              <a:ext uri="{28A0092B-C50C-407E-A947-70E740481C1C}">
                <ns5:useLocalDpi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601" name="LegalRefBox"/>
          <p:cNvSpPr/>
          <p:nvPr/>
        </p:nvSpPr>
        <p:spPr>
          <a:xfrm>
            <a:off x="457200" y="1500000"/>
            <a:ext cx="5500000" cy="5200000"/>
          </a:xfrm>
          <a:prstGeom prst="rect"/>
          <a:solidFill>
            <a:srgbClr val="FFFFFF"/>
          </a:solidFill>
          <a:ln w="12700">
            <a:solidFill>
              <a:srgbClr val="CCCCCC"/>
            </a:solidFill>
          </a:ln>
        </p:spPr>
        <p:txBody>
          <a:bodyPr wrap="square" lIns="91440" tIns="91440" rIns="91440" bIns="91440"/>
          <a:lstStyle/>
          <a:p>
            <a:pPr>
              <a:buNone/>
            </a:pPr>
            <a:r>
              <a:rPr lang="en-US" dirty="0" b="1" sz="1300">
                <a:solidFill>
                  <a:srgbClr val="003366"/>
                </a:solidFill>
              </a:rPr>
              <a:t>Statutory &amp; Regulatory Frameworks</a:t>
            </a:r>
          </a:p>
          <a:p>
            <a:pPr>
              <a:buChar char="•"/>
            </a:pPr>
            <a:r>
              <a:rPr lang="en-US" dirty="0" b="1" sz="1000">
                <a:solidFill>
                  <a:srgbClr val="000000"/>
                </a:solidFill>
              </a:rPr>
              <a:t>WIPO Treaty on Genetic Resources &amp; TK (2024): </a:t>
            </a:r>
            <a:r>
              <a:rPr lang="en-US" dirty="0" sz="1000">
                <a:solidFill>
                  <a:srgbClr val="000000"/>
                </a:solidFill>
              </a:rPr>
              <a:t>Mandatory origin disclosure for patents derived from TK.</a:t>
            </a:r>
          </a:p>
          <a:p>
            <a:pPr>
              <a:buChar char="•"/>
            </a:pPr>
            <a:r>
              <a:rPr lang="en-US" dirty="0" b="1" sz="1000">
                <a:solidFill>
                  <a:srgbClr val="000000"/>
                </a:solidFill>
              </a:rPr>
              <a:t>Biological Diversity (Amendment) Act 2023 &amp; Rules 2024: </a:t>
            </a:r>
            <a:r>
              <a:rPr lang="en-US" dirty="0" sz="1000">
                <a:solidFill>
                  <a:srgbClr val="000000"/>
                </a:solidFill>
              </a:rPr>
              <a:t>Sovereign ABS duties and registration rules.</a:t>
            </a:r>
          </a:p>
          <a:p>
            <a:pPr>
              <a:buChar char="•"/>
            </a:pPr>
            <a:r>
              <a:rPr lang="en-US" dirty="0" b="1" sz="1000">
                <a:solidFill>
                  <a:srgbClr val="000000"/>
                </a:solidFill>
              </a:rPr>
              <a:t>Indian Patents Act 1970 &amp; Rules 2024: </a:t>
            </a:r>
            <a:r>
              <a:rPr lang="en-US" dirty="0" sz="1000">
                <a:solidFill>
                  <a:srgbClr val="000000"/>
                </a:solidFill>
              </a:rPr>
              <a:t>Section 3(p) TK patenting bar &amp; Form 18A expedited examination.</a:t>
            </a:r>
          </a:p>
          <a:p>
            <a:pPr>
              <a:buChar char="•"/>
            </a:pPr>
            <a:r>
              <a:rPr lang="en-US" dirty="0" b="1" sz="1000">
                <a:solidFill>
                  <a:srgbClr val="000000"/>
                </a:solidFill>
              </a:rPr>
              <a:t>FSSAI Ayurveda-Aahar Regulations (2022/2024): </a:t>
            </a:r>
            <a:r>
              <a:rPr lang="en-US" dirty="0" sz="1000">
                <a:solidFill>
                  <a:srgbClr val="000000"/>
                </a:solidFill>
              </a:rPr>
              <a:t>Specialized food category rules for Ayurvedic health products.</a:t>
            </a:r>
          </a:p>
        </p:txBody>
      </p:sp>
      <p:sp>
        <p:nvSpPr>
          <p:cNvPr id="602" name="TechRefBox"/>
          <p:cNvSpPr/>
          <p:nvPr/>
        </p:nvSpPr>
        <p:spPr>
          <a:xfrm>
            <a:off x="6150000" y="1500000"/>
            <a:ext cx="5500000" cy="5200000"/>
          </a:xfrm>
          <a:prstGeom prst="rect"/>
          <a:solidFill>
            <a:srgbClr val="F4F8FC"/>
          </a:solidFill>
          <a:ln w="12700">
            <a:solidFill>
              <a:srgbClr val="003366"/>
            </a:solidFill>
          </a:ln>
        </p:spPr>
        <p:txBody>
          <a:bodyPr wrap="square" lIns="91440" tIns="91440" rIns="91440" bIns="91440"/>
          <a:lstStyle/>
          <a:p>
            <a:pPr>
              <a:buNone/>
            </a:pPr>
            <a:r>
              <a:rPr lang="en-US" dirty="0" b="1" sz="1300">
                <a:solidFill>
                  <a:srgbClr val="003366"/>
                </a:solidFill>
              </a:rPr>
              <a:t>Peer-Reviewed Research Papers</a:t>
            </a:r>
          </a:p>
          <a:p>
            <a:pPr>
              <a:buChar char="•"/>
            </a:pPr>
            <a:r>
              <a:rPr lang="en-US" dirty="0" b="1" sz="1000">
                <a:solidFill>
                  <a:srgbClr val="003366"/>
                </a:solidFill>
              </a:rPr>
              <a:t>RAFT (UC Berkeley, 2024): </a:t>
            </a:r>
            <a:r>
              <a:rPr lang="en-US" dirty="0" sz="900">
                <a:solidFill>
                  <a:srgbClr val="000000"/>
                </a:solidFill>
              </a:rPr>
              <a:t>Adapting Language Model to Domain Specific RAG (arXiv:2403.10131).</a:t>
            </a:r>
          </a:p>
          <a:p>
            <a:pPr>
              <a:buChar char="•"/>
            </a:pPr>
            <a:r>
              <a:rPr lang="en-US" dirty="0" b="1" sz="1000">
                <a:solidFill>
                  <a:srgbClr val="003366"/>
                </a:solidFill>
              </a:rPr>
              <a:t>RAGAS (EACL 2024): </a:t>
            </a:r>
            <a:r>
              <a:rPr lang="en-US" dirty="0" sz="900">
                <a:solidFill>
                  <a:srgbClr val="000000"/>
                </a:solidFill>
              </a:rPr>
              <a:t>Automated Evaluation of Retrieval Augmented Generation.</a:t>
            </a:r>
          </a:p>
          <a:p>
            <a:pPr>
              <a:buChar char="•"/>
            </a:pPr>
            <a:r>
              <a:rPr lang="en-US" dirty="0" b="1" sz="1000">
                <a:solidFill>
                  <a:srgbClr val="003366"/>
                </a:solidFill>
              </a:rPr>
              <a:t>NeMo Guardrails (NVIDIA, 2023): </a:t>
            </a:r>
            <a:r>
              <a:rPr lang="en-US" dirty="0" sz="900">
                <a:solidFill>
                  <a:srgbClr val="000000"/>
                </a:solidFill>
              </a:rPr>
              <a:t>Programmable Safety for Conversational AI.</a:t>
            </a:r>
          </a:p>
          <a:p>
            <a:pPr>
              <a:buChar char="•"/>
            </a:pPr>
            <a:r>
              <a:rPr lang="en-US" dirty="0" b="1" sz="1000">
                <a:solidFill>
                  <a:srgbClr val="003366"/>
                </a:solidFill>
              </a:rPr>
              <a:t>BEIR (EMNLP): </a:t>
            </a:r>
            <a:r>
              <a:rPr lang="en-US" dirty="0" sz="900">
                <a:solidFill>
                  <a:srgbClr val="000000"/>
                </a:solidFill>
              </a:rPr>
              <a:t>Heterogeneous Benchmark for Information Retrieval.</a:t>
            </a:r>
          </a:p>
          <a:p>
            <a:pPr>
              <a:buChar char="•"/>
            </a:pPr>
            <a:r>
              <a:rPr lang="en-US" dirty="0" b="1" sz="1000">
                <a:solidFill>
                  <a:srgbClr val="003366"/>
                </a:solidFill>
              </a:rPr>
              <a:t>IndicTrans2 (AI4Bharat, 2023): </a:t>
            </a:r>
            <a:r>
              <a:rPr lang="en-US" dirty="0" sz="900">
                <a:solidFill>
                  <a:srgbClr val="000000"/>
                </a:solidFill>
              </a:rPr>
              <a:t>Massive Multilingual Translation for Indian Languages.</a:t>
            </a:r>
          </a:p>
          <a:p>
            <a:pPr>
              <a:buChar char="•"/>
            </a:pPr>
            <a:r>
              <a:rPr lang="en-US" dirty="0" b="1" sz="1000">
                <a:solidFill>
                  <a:srgbClr val="003366"/>
                </a:solidFill>
              </a:rPr>
              <a:t>Legal-KG-RAG (ICAIL 2024): </a:t>
            </a:r>
            <a:r>
              <a:rPr lang="en-US" dirty="0" sz="900">
                <a:solidFill>
                  <a:srgbClr val="000000"/>
                </a:solidFill>
              </a:rPr>
              <a:t>Integrating Legal Ontologies with RAG.</a:t>
            </a:r>
          </a:p>
        </p:txBody>
      </p:sp>
    </p:spTree>
    <p:extLst>
      <p:ext uri="{BB962C8B-B14F-4D97-AF65-F5344CB8AC3E}">
        <ns6:creationId val="39167886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3" name="Round Diagonal Corner Rectangle 2"/>
          <p:cNvSpPr/>
          <p:nvPr/>
        </p:nvSpPr>
        <p:spPr>
          <a:xfrm>
            <a:off x="0" y="1791032"/>
            <a:ext cx="12192000" cy="4319200"/>
          </a:xfrm>
          <a:prstGeom prst="round2DiagRect">
            <a:avLst/>
          </a:prstGeom>
          <a:solidFill>
            <a:schemeClr val="accent1">
              <a:lumMod val="20000"/>
              <a:lumOff val="80000"/>
            </a:schemeClr>
          </a:solidFill>
          <a:ln w="381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Google Shape;100;p3"/>
          <p:cNvSpPr txBox="1"/>
          <p:nvPr/>
        </p:nvSpPr>
        <p:spPr>
          <a:xfrm>
            <a:off x="367832" y="1915454"/>
            <a:ext cx="11764736" cy="4070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marR="0" lvl="0" indent="-51435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Kindly keep the maximum slides limit up to six </a:t>
            </a: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(6). 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 Including the </a:t>
            </a:r>
            <a:r>
              <a:rPr lang="en-US" b="1" i="0" u="none" strike="noStrike" cap="none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title slide)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Try to avoid paragraphs and post your idea in points /diagrams / Infographics /pictures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Keep your explanation precise and easy to understand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Idea should be unique and novel.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can only use provided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template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for making the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PPT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without changing the idea details pointers (mentioned in previous slides).</a:t>
            </a: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need to save the file in PDF and upload the same on portal. No PPT, Word Doc or any other format will be supported.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349885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Note - You can delete this slide (Important Pointers) when you upload the details of your idea on SIH portal.</a:t>
            </a:r>
            <a:endParaRPr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marR="0" lvl="1" indent="-31623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sz="2000"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93371" y="107066"/>
            <a:ext cx="84105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INSTRUCTIONS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02343" y="1181900"/>
            <a:ext cx="9557657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Please ensure below pointers are met while submitting the Idea PPT:</a:t>
            </a:r>
            <a:endParaRPr lang="en-IN" b="1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0844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148</cp:revision>
  <dcterms:created xsi:type="dcterms:W3CDTF">2013-12-12T18:46:50Z</dcterms:created>
  <dcterms:modified xsi:type="dcterms:W3CDTF">2026-06-02T09:29:39Z</dcterms:modified>
  <cp:category/>
</cp:coreProperties>
</file>